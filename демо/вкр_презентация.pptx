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9.emf" ContentType="image/x-emf"/>
  <Override PartName="/ppt/media/image44.emf" ContentType="image/x-emf"/>
  <Override PartName="/ppt/media/image4.emf" ContentType="image/x-emf"/>
  <Override PartName="/ppt/media/image6.emf" ContentType="image/x-emf"/>
  <Override PartName="/ppt/media/image24.emf" ContentType="image/x-emf"/>
  <Override PartName="/ppt/media/image34.emf" ContentType="image/x-emf"/>
  <Override PartName="/ppt/media/media53.mp4" ContentType="video/mp4"/>
  <Override PartName="/ppt/media/image5.emf" ContentType="image/x-emf"/>
  <Override PartName="/ppt/media/media49.mp4" ContentType="video/mp4"/>
  <Override PartName="/ppt/media/media42.mp4" ContentType="video/mp4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7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16F991-1145-468F-8367-C554C37536E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0C7F0A-D4E0-47FB-94F8-BF2C7B8ABB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242BEA-665B-495C-A3EF-29DA01862D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DFC176-FB9E-4BC5-81FD-9E5036D59D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A46036-2719-4D86-82AB-90BAF0DDAE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D3FCE9-21CE-44C6-9339-C53F6E329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006D50-23A9-4C9E-AFD6-241CFE48B2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B45FCB-7032-4488-B190-62D691D814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FBEAC4-C985-467E-9C8A-A40208AA29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9A93E4-AA8A-4136-85DA-CB8A6F3441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2FEB5B-1561-4FC4-B52A-8359ABAE99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C76826-BD62-4008-A5CC-F25C6942D6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20775A-EDFC-4081-B6EE-C46450E2DB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53CB57-D6B1-4825-8382-A155D97947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4DE9E5-B1B6-4888-9388-281A8CC059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3E914F-D4BA-4F82-8BF2-E181CF516D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emf"/><Relationship Id="rId6" Type="http://schemas.openxmlformats.org/officeDocument/2006/relationships/image" Target="../media/image6.emf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6.emf"/><Relationship Id="rId4" Type="http://schemas.openxmlformats.org/officeDocument/2006/relationships/image" Target="../media/image6.emf"/><Relationship Id="rId5" Type="http://schemas.openxmlformats.org/officeDocument/2006/relationships/image" Target="../media/image6.emf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emf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6.emf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emf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video" Target="../media/media42.mp4"/><Relationship Id="rId3" Type="http://schemas.microsoft.com/office/2007/relationships/media" Target="../media/media42.mp4"/><Relationship Id="rId4" Type="http://schemas.openxmlformats.org/officeDocument/2006/relationships/image" Target="../media/image43.png"/><Relationship Id="rId5" Type="http://schemas.openxmlformats.org/officeDocument/2006/relationships/image" Target="../media/image44.emf"/><Relationship Id="rId6" Type="http://schemas.openxmlformats.org/officeDocument/2006/relationships/image" Target="../media/image44.emf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video" Target="../media/media49.mp4"/><Relationship Id="rId3" Type="http://schemas.microsoft.com/office/2007/relationships/media" Target="../media/media49.mp4"/><Relationship Id="rId4" Type="http://schemas.openxmlformats.org/officeDocument/2006/relationships/image" Target="../media/image50.png"/><Relationship Id="rId5" Type="http://schemas.openxmlformats.org/officeDocument/2006/relationships/image" Target="../media/image28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../media/media53.mp4"/><Relationship Id="rId2" Type="http://schemas.microsoft.com/office/2007/relationships/media" Target="../media/media53.mp4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image" Target="../media/image45.png"/><Relationship Id="rId4" Type="http://schemas.openxmlformats.org/officeDocument/2006/relationships/image" Target="../media/image28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.emf"/><Relationship Id="rId4" Type="http://schemas.openxmlformats.org/officeDocument/2006/relationships/image" Target="../media/image6.emf"/><Relationship Id="rId5" Type="http://schemas.openxmlformats.org/officeDocument/2006/relationships/image" Target="../media/image45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/mnt/data/extracted_package/ppt/media/image1.png"/>
          <p:cNvPicPr/>
          <p:nvPr/>
        </p:nvPicPr>
        <p:blipFill>
          <a:blip r:embed="rId1"/>
          <a:stretch/>
        </p:blipFill>
        <p:spPr>
          <a:xfrm>
            <a:off x="2160000" y="91080"/>
            <a:ext cx="6837480" cy="17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3"/>
          <p:cNvSpPr/>
          <p:nvPr/>
        </p:nvSpPr>
        <p:spPr>
          <a:xfrm>
            <a:off x="728640" y="3060000"/>
            <a:ext cx="1096956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Разработка программы управления ходовой частью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наземного четырёхколёсного робота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 базе микроконтроллеров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4"/>
          <p:cNvSpPr/>
          <p:nvPr/>
        </p:nvSpPr>
        <p:spPr>
          <a:xfrm>
            <a:off x="4452120" y="5040000"/>
            <a:ext cx="773820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Автор: студент группы ПМИ-22 Михно Павел Юрьевич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Руководитель ВКР: к. т. н., доцент Бугай Ирина Владимировна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5"/>
          <p:cNvSpPr/>
          <p:nvPr/>
        </p:nvSpPr>
        <p:spPr>
          <a:xfrm>
            <a:off x="1080000" y="1980000"/>
            <a:ext cx="99637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Институт инфокоммуникационных систем и технологий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Кафедра математики и естественнонаучных дисциплин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6"/>
          <p:cNvSpPr/>
          <p:nvPr/>
        </p:nvSpPr>
        <p:spPr>
          <a:xfrm>
            <a:off x="3600000" y="6300000"/>
            <a:ext cx="37458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г. Королёв, 2026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lideNumber_1"/>
          <p:cNvSpPr/>
          <p:nvPr/>
        </p:nvSpPr>
        <p:spPr>
          <a:xfrm>
            <a:off x="11064240" y="6419160"/>
            <a:ext cx="8013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/>
          <p:cNvSpPr/>
          <p:nvPr/>
        </p:nvSpPr>
        <p:spPr>
          <a:xfrm>
            <a:off x="421560" y="72000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"/>
          <p:cNvSpPr/>
          <p:nvPr/>
        </p:nvSpPr>
        <p:spPr>
          <a:xfrm>
            <a:off x="8640" y="360000"/>
            <a:ext cx="12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Цель и задачи работы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3"/>
          <p:cNvSpPr/>
          <p:nvPr/>
        </p:nvSpPr>
        <p:spPr>
          <a:xfrm>
            <a:off x="458640" y="10386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818640" y="1206000"/>
            <a:ext cx="1060380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Цель: разработать для микроконтроллерной платформы STM32 программу управления ходовой частью робота, формирующую воздействия на левый и правый приводы и обеспечивающую достижение и поддержание заданных линейной и угловой скоростей.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Rounded Rectangle 5"/>
          <p:cNvSpPr/>
          <p:nvPr/>
        </p:nvSpPr>
        <p:spPr>
          <a:xfrm>
            <a:off x="741600" y="2877120"/>
            <a:ext cx="4934880" cy="168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TextBox 6"/>
          <p:cNvSpPr/>
          <p:nvPr/>
        </p:nvSpPr>
        <p:spPr>
          <a:xfrm>
            <a:off x="900000" y="3015000"/>
            <a:ext cx="6368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7"/>
          <p:cNvSpPr/>
          <p:nvPr/>
        </p:nvSpPr>
        <p:spPr>
          <a:xfrm>
            <a:off x="900000" y="3015000"/>
            <a:ext cx="388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 Объект управления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8"/>
          <p:cNvSpPr/>
          <p:nvPr/>
        </p:nvSpPr>
        <p:spPr>
          <a:xfrm>
            <a:off x="1126800" y="3443040"/>
            <a:ext cx="431820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Описание  робота(платформы) и определение её параметров движения.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ounded Rectangle 9"/>
          <p:cNvSpPr/>
          <p:nvPr/>
        </p:nvSpPr>
        <p:spPr>
          <a:xfrm>
            <a:off x="6273720" y="2877120"/>
            <a:ext cx="4982760" cy="18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Box 10"/>
          <p:cNvSpPr/>
          <p:nvPr/>
        </p:nvSpPr>
        <p:spPr>
          <a:xfrm>
            <a:off x="6438240" y="3015000"/>
            <a:ext cx="6368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1"/>
          <p:cNvSpPr/>
          <p:nvPr/>
        </p:nvSpPr>
        <p:spPr>
          <a:xfrm>
            <a:off x="6438240" y="3045600"/>
            <a:ext cx="4638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 Закон управления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12"/>
          <p:cNvSpPr/>
          <p:nvPr/>
        </p:nvSpPr>
        <p:spPr>
          <a:xfrm>
            <a:off x="6653880" y="3417120"/>
            <a:ext cx="442296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Заданная линейная и угловая скорости преобразуются в воздействия левого и правого приводов платформы.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ounded Rectangle 13"/>
          <p:cNvSpPr/>
          <p:nvPr/>
        </p:nvSpPr>
        <p:spPr>
          <a:xfrm>
            <a:off x="696600" y="4677120"/>
            <a:ext cx="4980240" cy="161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Box 14"/>
          <p:cNvSpPr/>
          <p:nvPr/>
        </p:nvSpPr>
        <p:spPr>
          <a:xfrm>
            <a:off x="861120" y="4815000"/>
            <a:ext cx="6368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15"/>
          <p:cNvSpPr/>
          <p:nvPr/>
        </p:nvSpPr>
        <p:spPr>
          <a:xfrm>
            <a:off x="893880" y="4815000"/>
            <a:ext cx="388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 Архитектура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16"/>
          <p:cNvSpPr/>
          <p:nvPr/>
        </p:nvSpPr>
        <p:spPr>
          <a:xfrm>
            <a:off x="1073880" y="5221080"/>
            <a:ext cx="442296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Блок управления роботом отделён от аппаратной части и математической модели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ounded Rectangle 17"/>
          <p:cNvSpPr/>
          <p:nvPr/>
        </p:nvSpPr>
        <p:spPr>
          <a:xfrm>
            <a:off x="6218640" y="4896720"/>
            <a:ext cx="4980240" cy="150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Box 18"/>
          <p:cNvSpPr/>
          <p:nvPr/>
        </p:nvSpPr>
        <p:spPr>
          <a:xfrm>
            <a:off x="6383160" y="4857120"/>
            <a:ext cx="6368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9"/>
          <p:cNvSpPr/>
          <p:nvPr/>
        </p:nvSpPr>
        <p:spPr>
          <a:xfrm>
            <a:off x="6398640" y="4995000"/>
            <a:ext cx="3882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4 Проверка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0"/>
          <p:cNvSpPr/>
          <p:nvPr/>
        </p:nvSpPr>
        <p:spPr>
          <a:xfrm>
            <a:off x="6578640" y="5397120"/>
            <a:ext cx="449820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Провести тестирование программы на микроконтроллере stm32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lideNumber_2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2/17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41600" y="2481840"/>
            <a:ext cx="9537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Задачи: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/mnt/data/extracted_package/ppt/media/image3.png"/>
          <p:cNvPicPr/>
          <p:nvPr/>
        </p:nvPicPr>
        <p:blipFill>
          <a:blip r:embed="rId1"/>
          <a:stretch/>
        </p:blipFill>
        <p:spPr>
          <a:xfrm>
            <a:off x="285840" y="1064880"/>
            <a:ext cx="5472360" cy="361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1" descr="/mnt/data/extracted_package/ppt/media/image2.png"/>
          <p:cNvPicPr/>
          <p:nvPr/>
        </p:nvPicPr>
        <p:blipFill>
          <a:blip r:embed="rId2"/>
          <a:stretch/>
        </p:blipFill>
        <p:spPr>
          <a:xfrm>
            <a:off x="6052680" y="1080000"/>
            <a:ext cx="5447160" cy="359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Box 13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14"/>
          <p:cNvSpPr/>
          <p:nvPr/>
        </p:nvSpPr>
        <p:spPr>
          <a:xfrm>
            <a:off x="1440" y="36000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Описание объекта управления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15"/>
          <p:cNvSpPr/>
          <p:nvPr/>
        </p:nvSpPr>
        <p:spPr>
          <a:xfrm>
            <a:off x="540000" y="10494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Box 16"/>
          <p:cNvSpPr/>
          <p:nvPr/>
        </p:nvSpPr>
        <p:spPr>
          <a:xfrm>
            <a:off x="540000" y="4158720"/>
            <a:ext cx="52088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Изображение робота сбоку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17"/>
          <p:cNvSpPr/>
          <p:nvPr/>
        </p:nvSpPr>
        <p:spPr>
          <a:xfrm>
            <a:off x="6300000" y="4680000"/>
            <a:ext cx="52088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Изображение робота сверху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18"/>
          <p:cNvSpPr/>
          <p:nvPr/>
        </p:nvSpPr>
        <p:spPr>
          <a:xfrm>
            <a:off x="685800" y="5139000"/>
            <a:ext cx="5971680" cy="13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TextBox 19"/>
          <p:cNvSpPr/>
          <p:nvPr/>
        </p:nvSpPr>
        <p:spPr>
          <a:xfrm>
            <a:off x="850320" y="5220000"/>
            <a:ext cx="55656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Принцип движения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0"/>
          <p:cNvSpPr/>
          <p:nvPr/>
        </p:nvSpPr>
        <p:spPr>
          <a:xfrm>
            <a:off x="850320" y="5687640"/>
            <a:ext cx="55656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0" rIns="2736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Движение формируют два ведущих колеса; опорные колёса привода не имеют.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21"/>
          <p:cNvSpPr/>
          <p:nvPr/>
        </p:nvSpPr>
        <p:spPr>
          <a:xfrm>
            <a:off x="6858000" y="5139000"/>
            <a:ext cx="4659480" cy="13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Box 22"/>
          <p:cNvSpPr/>
          <p:nvPr/>
        </p:nvSpPr>
        <p:spPr>
          <a:xfrm>
            <a:off x="7007040" y="5220000"/>
            <a:ext cx="433116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Параметры модели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3"/>
          <p:cNvSpPr/>
          <p:nvPr/>
        </p:nvSpPr>
        <p:spPr>
          <a:xfrm>
            <a:off x="7022520" y="5687640"/>
            <a:ext cx="43311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0" rIns="2736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  = 0,100 м — ширина колеи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  = 0,025 м — радиус колеса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lideNumber_3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3/17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022520" y="5687640"/>
            <a:ext cx="172800" cy="308160"/>
          </a:xfrm>
          <a:custGeom>
            <a:avLst/>
            <a:gdLst>
              <a:gd name="textAreaLeft" fmla="*/ 0 w 172800"/>
              <a:gd name="textAreaRight" fmla="*/ 173520 w 172800"/>
              <a:gd name="textAreaTop" fmla="*/ 0 h 308160"/>
              <a:gd name="textAreaBottom" fmla="*/ 308880 h 308160"/>
            </a:gdLst>
            <a:ahLst/>
            <a:cxnLst/>
            <a:rect l="textAreaLeft" t="textAreaTop" r="textAreaRight" b="textAreaBottom"/>
            <a:pathLst>
              <a:path w="482" h="858">
                <a:moveTo>
                  <a:pt x="0" y="858"/>
                </a:moveTo>
                <a:lnTo>
                  <a:pt x="0" y="0"/>
                </a:lnTo>
                <a:lnTo>
                  <a:pt x="482" y="0"/>
                </a:lnTo>
                <a:lnTo>
                  <a:pt x="482" y="858"/>
                </a:lnTo>
                <a:lnTo>
                  <a:pt x="0" y="858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45000" rIns="864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022520" y="5997240"/>
            <a:ext cx="126000" cy="308160"/>
          </a:xfrm>
          <a:custGeom>
            <a:avLst/>
            <a:gdLst>
              <a:gd name="textAreaLeft" fmla="*/ 0 w 126000"/>
              <a:gd name="textAreaRight" fmla="*/ 126720 w 126000"/>
              <a:gd name="textAreaTop" fmla="*/ 0 h 308160"/>
              <a:gd name="textAreaBottom" fmla="*/ 308880 h 308160"/>
            </a:gdLst>
            <a:ahLst/>
            <a:cxnLst/>
            <a:rect l="textAreaLeft" t="textAreaTop" r="textAreaRight" b="textAreaBottom"/>
            <a:pathLst>
              <a:path w="352" h="858">
                <a:moveTo>
                  <a:pt x="0" y="858"/>
                </a:moveTo>
                <a:cubicBezTo>
                  <a:pt x="0" y="572"/>
                  <a:pt x="0" y="286"/>
                  <a:pt x="0" y="0"/>
                </a:cubicBezTo>
                <a:cubicBezTo>
                  <a:pt x="117" y="0"/>
                  <a:pt x="235" y="0"/>
                  <a:pt x="352" y="0"/>
                </a:cubicBezTo>
                <a:cubicBezTo>
                  <a:pt x="352" y="286"/>
                  <a:pt x="352" y="572"/>
                  <a:pt x="352" y="858"/>
                </a:cubicBezTo>
                <a:cubicBezTo>
                  <a:pt x="235" y="858"/>
                  <a:pt x="117" y="858"/>
                  <a:pt x="0" y="858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5000" rIns="63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8640" y="46440"/>
            <a:ext cx="12049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Общий принцип формирования управляющих воздействий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02920" y="530280"/>
            <a:ext cx="10969560" cy="4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540000" y="70308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720000" y="732600"/>
            <a:ext cx="1087812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В одном цикле управления формируются две составляющие воздействия: модельная по заданной команде управления и корректирующая по обратной связи.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nector 5"/>
          <p:cNvCxnSpPr/>
          <p:nvPr/>
        </p:nvCxnSpPr>
        <p:spPr>
          <a:xfrm>
            <a:off x="2137320" y="2088720"/>
            <a:ext cx="734760" cy="324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3" name="Connector 6"/>
          <p:cNvCxnSpPr/>
          <p:nvPr/>
        </p:nvCxnSpPr>
        <p:spPr>
          <a:xfrm>
            <a:off x="4971960" y="2088720"/>
            <a:ext cx="597600" cy="324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4" name="Connector 7"/>
          <p:cNvCxnSpPr/>
          <p:nvPr/>
        </p:nvCxnSpPr>
        <p:spPr>
          <a:xfrm>
            <a:off x="7669440" y="2088720"/>
            <a:ext cx="734760" cy="6433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5" name="Connector 8"/>
          <p:cNvCxnSpPr/>
          <p:nvPr/>
        </p:nvCxnSpPr>
        <p:spPr>
          <a:xfrm>
            <a:off x="2171520" y="3159360"/>
            <a:ext cx="734760" cy="324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6" name="Connector 9"/>
          <p:cNvCxnSpPr/>
          <p:nvPr/>
        </p:nvCxnSpPr>
        <p:spPr>
          <a:xfrm>
            <a:off x="5006160" y="3159360"/>
            <a:ext cx="597600" cy="324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7" name="Connector 10"/>
          <p:cNvCxnSpPr/>
          <p:nvPr/>
        </p:nvCxnSpPr>
        <p:spPr>
          <a:xfrm flipV="1">
            <a:off x="7522920" y="2993400"/>
            <a:ext cx="893520" cy="31212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cxnSp>
        <p:nvCxnSpPr>
          <p:cNvPr id="78" name="Connector 11"/>
          <p:cNvCxnSpPr/>
          <p:nvPr/>
        </p:nvCxnSpPr>
        <p:spPr>
          <a:xfrm>
            <a:off x="9086760" y="2957400"/>
            <a:ext cx="780480" cy="3240"/>
          </a:xfrm>
          <a:prstGeom prst="straightConnector1">
            <a:avLst/>
          </a:prstGeom>
          <a:ln w="25560">
            <a:solidFill>
              <a:srgbClr val="3C3C3C"/>
            </a:solidFill>
            <a:round/>
          </a:ln>
        </p:spPr>
      </p:cxnSp>
      <p:sp>
        <p:nvSpPr>
          <p:cNvPr id="79" name="Rounded Rectangle 12"/>
          <p:cNvSpPr/>
          <p:nvPr/>
        </p:nvSpPr>
        <p:spPr>
          <a:xfrm>
            <a:off x="744480" y="1620000"/>
            <a:ext cx="1414080" cy="1045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2868840" y="1585800"/>
            <a:ext cx="2202840" cy="10026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 anchorCtr="1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Кинематическая модель робота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4"/>
          <p:cNvSpPr/>
          <p:nvPr/>
        </p:nvSpPr>
        <p:spPr>
          <a:xfrm>
            <a:off x="5566320" y="1658880"/>
            <a:ext cx="2099880" cy="865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Модельная часть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5"/>
          <p:cNvSpPr/>
          <p:nvPr/>
        </p:nvSpPr>
        <p:spPr>
          <a:xfrm>
            <a:off x="754200" y="2729520"/>
            <a:ext cx="1414080" cy="10252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6"/>
          <p:cNvSpPr/>
          <p:nvPr/>
        </p:nvSpPr>
        <p:spPr>
          <a:xfrm>
            <a:off x="2903040" y="2729520"/>
            <a:ext cx="2099880" cy="10490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7"/>
          <p:cNvSpPr/>
          <p:nvPr/>
        </p:nvSpPr>
        <p:spPr>
          <a:xfrm>
            <a:off x="5600520" y="2729520"/>
            <a:ext cx="2099880" cy="10054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ПИД-регуляторы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8"/>
          <p:cNvSpPr/>
          <p:nvPr/>
        </p:nvSpPr>
        <p:spPr>
          <a:xfrm>
            <a:off x="8400960" y="2619000"/>
            <a:ext cx="682560" cy="6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Σ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9"/>
          <p:cNvSpPr/>
          <p:nvPr/>
        </p:nvSpPr>
        <p:spPr>
          <a:xfrm rot="21592200">
            <a:off x="9684720" y="2521080"/>
            <a:ext cx="1114560" cy="7174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648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tIns="36720" rIns="54720" bIns="36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8460360" y="4500000"/>
            <a:ext cx="521820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7560360" y="5580000"/>
            <a:ext cx="55782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lideNumber_4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4/17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"/>
          <p:cNvSpPr/>
          <p:nvPr/>
        </p:nvSpPr>
        <p:spPr>
          <a:xfrm rot="18600">
            <a:off x="199080" y="4120560"/>
            <a:ext cx="7897680" cy="251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15800" y="4099320"/>
            <a:ext cx="5218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Обозначения: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451480" y="3102120"/>
            <a:ext cx="1267920" cy="6328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442120" y="3521160"/>
            <a:ext cx="1268280" cy="633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3"/>
          <a:stretch/>
        </p:blipFill>
        <p:spPr>
          <a:xfrm>
            <a:off x="1000080" y="2160000"/>
            <a:ext cx="978480" cy="34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/>
          <p:cNvPicPr/>
          <p:nvPr/>
        </p:nvPicPr>
        <p:blipFill>
          <a:blip r:embed="rId4"/>
          <a:stretch/>
        </p:blipFill>
        <p:spPr>
          <a:xfrm>
            <a:off x="5940000" y="2160000"/>
            <a:ext cx="1481040" cy="33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3600000" y="3240000"/>
            <a:ext cx="589320" cy="3348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441760" y="3540240"/>
            <a:ext cx="1268280" cy="6332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7"/>
          <a:stretch/>
        </p:blipFill>
        <p:spPr>
          <a:xfrm>
            <a:off x="5829840" y="3260160"/>
            <a:ext cx="1548360" cy="33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8"/>
          <a:stretch/>
        </p:blipFill>
        <p:spPr>
          <a:xfrm>
            <a:off x="9803520" y="2709360"/>
            <a:ext cx="814680" cy="34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9"/>
          <a:stretch/>
        </p:blipFill>
        <p:spPr>
          <a:xfrm>
            <a:off x="3600000" y="3240000"/>
            <a:ext cx="589320" cy="33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10"/>
          <a:stretch/>
        </p:blipFill>
        <p:spPr>
          <a:xfrm>
            <a:off x="900000" y="3263760"/>
            <a:ext cx="1236960" cy="33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848880" y="2729520"/>
            <a:ext cx="126720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Обратная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связь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1"/>
          <a:stretch/>
        </p:blipFill>
        <p:spPr>
          <a:xfrm>
            <a:off x="415440" y="4500000"/>
            <a:ext cx="7533000" cy="203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ounded Rectangle 39"/>
          <p:cNvSpPr/>
          <p:nvPr/>
        </p:nvSpPr>
        <p:spPr>
          <a:xfrm>
            <a:off x="360000" y="4500000"/>
            <a:ext cx="7378560" cy="19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44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5"/>
          <p:cNvSpPr/>
          <p:nvPr/>
        </p:nvSpPr>
        <p:spPr>
          <a:xfrm>
            <a:off x="8640" y="0"/>
            <a:ext cx="12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Кинематическая модель робота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540000" y="54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Rounded Rectangle 24"/>
          <p:cNvSpPr/>
          <p:nvPr/>
        </p:nvSpPr>
        <p:spPr>
          <a:xfrm>
            <a:off x="406080" y="657000"/>
            <a:ext cx="4092480" cy="96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46"/>
          <p:cNvSpPr/>
          <p:nvPr/>
        </p:nvSpPr>
        <p:spPr>
          <a:xfrm>
            <a:off x="540000" y="701280"/>
            <a:ext cx="4602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1. Скорости колёс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7"/>
          <p:cNvSpPr/>
          <p:nvPr/>
        </p:nvSpPr>
        <p:spPr>
          <a:xfrm>
            <a:off x="540000" y="973800"/>
            <a:ext cx="460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26"/>
          <p:cNvSpPr/>
          <p:nvPr/>
        </p:nvSpPr>
        <p:spPr>
          <a:xfrm>
            <a:off x="360000" y="1800000"/>
            <a:ext cx="413856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TextBox 48"/>
          <p:cNvSpPr/>
          <p:nvPr/>
        </p:nvSpPr>
        <p:spPr>
          <a:xfrm>
            <a:off x="435960" y="1818000"/>
            <a:ext cx="4602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2. Угловые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9"/>
          <p:cNvSpPr/>
          <p:nvPr/>
        </p:nvSpPr>
        <p:spPr>
          <a:xfrm>
            <a:off x="900000" y="4320000"/>
            <a:ext cx="460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27"/>
          <p:cNvSpPr/>
          <p:nvPr/>
        </p:nvSpPr>
        <p:spPr>
          <a:xfrm>
            <a:off x="360000" y="3203280"/>
            <a:ext cx="41385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Box 50"/>
          <p:cNvSpPr/>
          <p:nvPr/>
        </p:nvSpPr>
        <p:spPr>
          <a:xfrm>
            <a:off x="540000" y="3242880"/>
            <a:ext cx="4602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3. Модель привода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1"/>
          <p:cNvSpPr/>
          <p:nvPr/>
        </p:nvSpPr>
        <p:spPr>
          <a:xfrm>
            <a:off x="540000" y="3853080"/>
            <a:ext cx="460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lideNumber_ 2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5/17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29"/>
          <p:cNvSpPr/>
          <p:nvPr/>
        </p:nvSpPr>
        <p:spPr>
          <a:xfrm>
            <a:off x="8100000" y="687240"/>
            <a:ext cx="3058560" cy="7293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Заданная команда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30"/>
          <p:cNvSpPr/>
          <p:nvPr/>
        </p:nvSpPr>
        <p:spPr>
          <a:xfrm>
            <a:off x="8100360" y="1980360"/>
            <a:ext cx="3058200" cy="7182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Кинематическая модель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31"/>
          <p:cNvSpPr/>
          <p:nvPr/>
        </p:nvSpPr>
        <p:spPr>
          <a:xfrm>
            <a:off x="8100000" y="3240000"/>
            <a:ext cx="3058560" cy="7293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9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Переход к угловым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9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скоростям</a:t>
            </a: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32"/>
          <p:cNvSpPr/>
          <p:nvPr/>
        </p:nvSpPr>
        <p:spPr>
          <a:xfrm>
            <a:off x="8100360" y="4489200"/>
            <a:ext cx="3058200" cy="72936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40000" y="4500000"/>
            <a:ext cx="1798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Обозначения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451480" y="3102120"/>
            <a:ext cx="1267920" cy="195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451480" y="3102120"/>
            <a:ext cx="1267920" cy="195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080000" y="1980360"/>
            <a:ext cx="1268280" cy="6332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218920" y="3240000"/>
            <a:ext cx="1268280" cy="1958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703120" y="3016440"/>
            <a:ext cx="1268280" cy="1958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6"/>
          <a:stretch/>
        </p:blipFill>
        <p:spPr>
          <a:xfrm>
            <a:off x="615600" y="973440"/>
            <a:ext cx="169992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/>
          <p:cNvPicPr/>
          <p:nvPr/>
        </p:nvPicPr>
        <p:blipFill>
          <a:blip r:embed="rId7"/>
          <a:stretch/>
        </p:blipFill>
        <p:spPr>
          <a:xfrm>
            <a:off x="2519640" y="973440"/>
            <a:ext cx="167508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/>
          <p:cNvPicPr/>
          <p:nvPr/>
        </p:nvPicPr>
        <p:blipFill>
          <a:blip r:embed="rId8"/>
          <a:stretch/>
        </p:blipFill>
        <p:spPr>
          <a:xfrm>
            <a:off x="1620000" y="2159640"/>
            <a:ext cx="77616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"/>
          <p:cNvPicPr/>
          <p:nvPr/>
        </p:nvPicPr>
        <p:blipFill>
          <a:blip r:embed="rId9"/>
          <a:stretch/>
        </p:blipFill>
        <p:spPr>
          <a:xfrm>
            <a:off x="637920" y="2159640"/>
            <a:ext cx="80028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/>
          <p:cNvPicPr/>
          <p:nvPr/>
        </p:nvPicPr>
        <p:blipFill>
          <a:blip r:embed="rId10"/>
          <a:stretch/>
        </p:blipFill>
        <p:spPr>
          <a:xfrm>
            <a:off x="720000" y="3604320"/>
            <a:ext cx="2756160" cy="35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/>
          <p:cNvPicPr/>
          <p:nvPr/>
        </p:nvPicPr>
        <p:blipFill>
          <a:blip r:embed="rId11"/>
          <a:stretch/>
        </p:blipFill>
        <p:spPr>
          <a:xfrm>
            <a:off x="720000" y="3964320"/>
            <a:ext cx="2792160" cy="35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"/>
          <p:cNvPicPr/>
          <p:nvPr/>
        </p:nvPicPr>
        <p:blipFill>
          <a:blip r:embed="rId12"/>
          <a:stretch/>
        </p:blipFill>
        <p:spPr>
          <a:xfrm>
            <a:off x="583200" y="4859640"/>
            <a:ext cx="6975000" cy="150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/>
          <p:cNvPicPr/>
          <p:nvPr/>
        </p:nvPicPr>
        <p:blipFill>
          <a:blip r:embed="rId13"/>
          <a:stretch/>
        </p:blipFill>
        <p:spPr>
          <a:xfrm>
            <a:off x="9179640" y="1058040"/>
            <a:ext cx="891720" cy="3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"/>
          <p:cNvPicPr/>
          <p:nvPr/>
        </p:nvPicPr>
        <p:blipFill>
          <a:blip r:embed="rId14"/>
          <a:stretch/>
        </p:blipFill>
        <p:spPr>
          <a:xfrm>
            <a:off x="9360000" y="2379600"/>
            <a:ext cx="5925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10260000" y="3600000"/>
            <a:ext cx="119520" cy="29484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760" tIns="45000" rIns="597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16"/>
          <a:stretch/>
        </p:blipFill>
        <p:spPr>
          <a:xfrm>
            <a:off x="8999640" y="4860000"/>
            <a:ext cx="139788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8640000" y="4487760"/>
            <a:ext cx="2158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Модель привода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"/>
          <p:cNvCxnSpPr>
            <a:stCxn id="118" idx="2"/>
            <a:endCxn id="119" idx="0"/>
          </p:cNvCxnSpPr>
          <p:nvPr/>
        </p:nvCxnSpPr>
        <p:spPr>
          <a:xfrm>
            <a:off x="9629280" y="1416600"/>
            <a:ext cx="720" cy="5641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41" name=""/>
          <p:cNvCxnSpPr>
            <a:stCxn id="119" idx="2"/>
            <a:endCxn id="120" idx="0"/>
          </p:cNvCxnSpPr>
          <p:nvPr/>
        </p:nvCxnSpPr>
        <p:spPr>
          <a:xfrm flipH="1">
            <a:off x="9629280" y="2698560"/>
            <a:ext cx="720" cy="54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42" name=""/>
          <p:cNvCxnSpPr>
            <a:stCxn id="120" idx="2"/>
            <a:endCxn id="121" idx="0"/>
          </p:cNvCxnSpPr>
          <p:nvPr/>
        </p:nvCxnSpPr>
        <p:spPr>
          <a:xfrm>
            <a:off x="9629280" y="3969360"/>
            <a:ext cx="720" cy="5202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pic>
        <p:nvPicPr>
          <p:cNvPr id="143" name=""/>
          <p:cNvPicPr/>
          <p:nvPr/>
        </p:nvPicPr>
        <p:blipFill>
          <a:blip r:embed="rId17"/>
          <a:stretch/>
        </p:blipFill>
        <p:spPr>
          <a:xfrm>
            <a:off x="10260000" y="3600000"/>
            <a:ext cx="180000" cy="34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25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8"/>
          <p:cNvSpPr/>
          <p:nvPr/>
        </p:nvSpPr>
        <p:spPr>
          <a:xfrm>
            <a:off x="8640" y="0"/>
            <a:ext cx="12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Коррекция по обратной связи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"/>
          <p:cNvSpPr/>
          <p:nvPr/>
        </p:nvSpPr>
        <p:spPr>
          <a:xfrm>
            <a:off x="540000" y="54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Rounded Rectangle 11"/>
          <p:cNvSpPr/>
          <p:nvPr/>
        </p:nvSpPr>
        <p:spPr>
          <a:xfrm>
            <a:off x="323640" y="720000"/>
            <a:ext cx="5254560" cy="125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Box 37"/>
          <p:cNvSpPr/>
          <p:nvPr/>
        </p:nvSpPr>
        <p:spPr>
          <a:xfrm>
            <a:off x="488160" y="780480"/>
            <a:ext cx="49255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1. 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8"/>
          <p:cNvSpPr/>
          <p:nvPr/>
        </p:nvSpPr>
        <p:spPr>
          <a:xfrm>
            <a:off x="488160" y="1287000"/>
            <a:ext cx="4925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20"/>
          <p:cNvSpPr/>
          <p:nvPr/>
        </p:nvSpPr>
        <p:spPr>
          <a:xfrm>
            <a:off x="324000" y="2157120"/>
            <a:ext cx="5254560" cy="1441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Box 39"/>
          <p:cNvSpPr/>
          <p:nvPr/>
        </p:nvSpPr>
        <p:spPr>
          <a:xfrm>
            <a:off x="488520" y="2182680"/>
            <a:ext cx="49255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2. ПИД-коррекция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0"/>
          <p:cNvSpPr/>
          <p:nvPr/>
        </p:nvSpPr>
        <p:spPr>
          <a:xfrm>
            <a:off x="488520" y="2603520"/>
            <a:ext cx="4925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23"/>
          <p:cNvSpPr/>
          <p:nvPr/>
        </p:nvSpPr>
        <p:spPr>
          <a:xfrm>
            <a:off x="324000" y="3743280"/>
            <a:ext cx="52545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Box 41"/>
          <p:cNvSpPr/>
          <p:nvPr/>
        </p:nvSpPr>
        <p:spPr>
          <a:xfrm>
            <a:off x="473040" y="3767760"/>
            <a:ext cx="49255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3. Итоговые напряжения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2"/>
          <p:cNvSpPr/>
          <p:nvPr/>
        </p:nvSpPr>
        <p:spPr>
          <a:xfrm>
            <a:off x="488160" y="3761640"/>
            <a:ext cx="4925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3"/>
          <p:cNvSpPr/>
          <p:nvPr/>
        </p:nvSpPr>
        <p:spPr>
          <a:xfrm>
            <a:off x="777240" y="5760720"/>
            <a:ext cx="106038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lideNumber_ 1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6/17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4"/>
          <p:cNvSpPr/>
          <p:nvPr/>
        </p:nvSpPr>
        <p:spPr>
          <a:xfrm>
            <a:off x="7468920" y="720000"/>
            <a:ext cx="2969640" cy="6562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Заданные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5"/>
          <p:cNvSpPr/>
          <p:nvPr/>
        </p:nvSpPr>
        <p:spPr>
          <a:xfrm>
            <a:off x="7468920" y="1502280"/>
            <a:ext cx="2969640" cy="6562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Фактические скорости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36"/>
          <p:cNvSpPr/>
          <p:nvPr/>
        </p:nvSpPr>
        <p:spPr>
          <a:xfrm>
            <a:off x="7468920" y="2340000"/>
            <a:ext cx="2969640" cy="6562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Ошибки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37"/>
          <p:cNvSpPr/>
          <p:nvPr/>
        </p:nvSpPr>
        <p:spPr>
          <a:xfrm>
            <a:off x="7468920" y="3122280"/>
            <a:ext cx="2969640" cy="6562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ПИД-регуляторы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38"/>
          <p:cNvSpPr/>
          <p:nvPr/>
        </p:nvSpPr>
        <p:spPr>
          <a:xfrm>
            <a:off x="7468920" y="3960000"/>
            <a:ext cx="2969640" cy="6562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600">
            <a:solidFill>
              <a:srgbClr val="B4B4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Сумматор с         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40"/>
          <p:cNvSpPr/>
          <p:nvPr/>
        </p:nvSpPr>
        <p:spPr>
          <a:xfrm>
            <a:off x="360000" y="5031000"/>
            <a:ext cx="8818560" cy="1618200"/>
          </a:xfrm>
          <a:prstGeom prst="roundRect">
            <a:avLst>
              <a:gd name="adj" fmla="val 17133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05000" y="4976640"/>
            <a:ext cx="1753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Обозначения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703120" y="3016440"/>
            <a:ext cx="1268280" cy="633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750280" y="2785320"/>
            <a:ext cx="1268280" cy="633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"/>
          <p:cNvPicPr/>
          <p:nvPr/>
        </p:nvPicPr>
        <p:blipFill>
          <a:blip r:embed="rId3"/>
          <a:stretch/>
        </p:blipFill>
        <p:spPr>
          <a:xfrm>
            <a:off x="487800" y="1152720"/>
            <a:ext cx="263412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"/>
          <p:cNvPicPr/>
          <p:nvPr/>
        </p:nvPicPr>
        <p:blipFill>
          <a:blip r:embed="rId4"/>
          <a:stretch/>
        </p:blipFill>
        <p:spPr>
          <a:xfrm>
            <a:off x="487800" y="1576080"/>
            <a:ext cx="277884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"/>
          <p:cNvPicPr/>
          <p:nvPr/>
        </p:nvPicPr>
        <p:blipFill>
          <a:blip r:embed="rId5"/>
          <a:stretch/>
        </p:blipFill>
        <p:spPr>
          <a:xfrm>
            <a:off x="8473320" y="1040400"/>
            <a:ext cx="891720" cy="3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6"/>
          <a:stretch/>
        </p:blipFill>
        <p:spPr>
          <a:xfrm>
            <a:off x="720360" y="2498400"/>
            <a:ext cx="3578400" cy="57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"/>
          <p:cNvPicPr/>
          <p:nvPr/>
        </p:nvPicPr>
        <p:blipFill>
          <a:blip r:embed="rId7"/>
          <a:stretch/>
        </p:blipFill>
        <p:spPr>
          <a:xfrm>
            <a:off x="729000" y="3025440"/>
            <a:ext cx="3769560" cy="57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/>
          <p:cNvPicPr/>
          <p:nvPr/>
        </p:nvPicPr>
        <p:blipFill>
          <a:blip r:embed="rId8"/>
          <a:stretch/>
        </p:blipFill>
        <p:spPr>
          <a:xfrm>
            <a:off x="720000" y="4109760"/>
            <a:ext cx="2158560" cy="65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"/>
          <p:cNvPicPr/>
          <p:nvPr/>
        </p:nvPicPr>
        <p:blipFill>
          <a:blip r:embed="rId9"/>
          <a:stretch/>
        </p:blipFill>
        <p:spPr>
          <a:xfrm>
            <a:off x="405000" y="5386680"/>
            <a:ext cx="8660880" cy="113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10"/>
          <a:stretch/>
        </p:blipFill>
        <p:spPr>
          <a:xfrm>
            <a:off x="8359920" y="1800000"/>
            <a:ext cx="117864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8640000" y="2677320"/>
            <a:ext cx="562680" cy="31896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"/>
          <p:cNvPicPr/>
          <p:nvPr/>
        </p:nvPicPr>
        <p:blipFill>
          <a:blip r:embed="rId12"/>
          <a:stretch/>
        </p:blipFill>
        <p:spPr>
          <a:xfrm>
            <a:off x="8280000" y="3420000"/>
            <a:ext cx="1481040" cy="3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"/>
          <p:cNvPicPr/>
          <p:nvPr/>
        </p:nvPicPr>
        <p:blipFill>
          <a:blip r:embed="rId13"/>
          <a:stretch/>
        </p:blipFill>
        <p:spPr>
          <a:xfrm>
            <a:off x="8460000" y="4297320"/>
            <a:ext cx="743760" cy="318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8" name=""/>
          <p:cNvCxnSpPr>
            <a:stCxn id="158" idx="2"/>
            <a:endCxn id="159" idx="0"/>
          </p:cNvCxnSpPr>
          <p:nvPr/>
        </p:nvCxnSpPr>
        <p:spPr>
          <a:xfrm>
            <a:off x="8953920" y="1376280"/>
            <a:ext cx="360" cy="1263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79" name=""/>
          <p:cNvCxnSpPr>
            <a:stCxn id="160" idx="2"/>
            <a:endCxn id="161" idx="0"/>
          </p:cNvCxnSpPr>
          <p:nvPr/>
        </p:nvCxnSpPr>
        <p:spPr>
          <a:xfrm>
            <a:off x="8953920" y="2996280"/>
            <a:ext cx="360" cy="1263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80" name=""/>
          <p:cNvCxnSpPr>
            <a:stCxn id="161" idx="2"/>
            <a:endCxn id="162" idx="0"/>
          </p:cNvCxnSpPr>
          <p:nvPr/>
        </p:nvCxnSpPr>
        <p:spPr>
          <a:xfrm>
            <a:off x="8953920" y="3778560"/>
            <a:ext cx="360" cy="18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181" name=""/>
          <p:cNvCxnSpPr>
            <a:stCxn id="159" idx="2"/>
            <a:endCxn id="160" idx="0"/>
          </p:cNvCxnSpPr>
          <p:nvPr/>
        </p:nvCxnSpPr>
        <p:spPr>
          <a:xfrm>
            <a:off x="8953920" y="2158560"/>
            <a:ext cx="360" cy="18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pic>
        <p:nvPicPr>
          <p:cNvPr id="182" name=""/>
          <p:cNvPicPr/>
          <p:nvPr/>
        </p:nvPicPr>
        <p:blipFill>
          <a:blip r:embed="rId14"/>
          <a:stretch/>
        </p:blipFill>
        <p:spPr>
          <a:xfrm>
            <a:off x="9540000" y="4000320"/>
            <a:ext cx="474480" cy="31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9"/>
          <p:cNvSpPr/>
          <p:nvPr/>
        </p:nvSpPr>
        <p:spPr>
          <a:xfrm>
            <a:off x="502920" y="182880"/>
            <a:ext cx="1096956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0"/>
          <p:cNvSpPr/>
          <p:nvPr/>
        </p:nvSpPr>
        <p:spPr>
          <a:xfrm>
            <a:off x="9000" y="180000"/>
            <a:ext cx="12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Архитектура программы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1"/>
          <p:cNvSpPr/>
          <p:nvPr/>
        </p:nvSpPr>
        <p:spPr>
          <a:xfrm>
            <a:off x="638640" y="88452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Rounded Rectangle 22"/>
          <p:cNvSpPr/>
          <p:nvPr/>
        </p:nvSpPr>
        <p:spPr>
          <a:xfrm>
            <a:off x="540000" y="1440000"/>
            <a:ext cx="4352760" cy="173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618840" y="1440000"/>
            <a:ext cx="4273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Основной принцип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4"/>
          <p:cNvSpPr/>
          <p:nvPr/>
        </p:nvSpPr>
        <p:spPr>
          <a:xfrm>
            <a:off x="618840" y="1812240"/>
            <a:ext cx="427392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организации управления отделена от подсистемы реализации закона управления и подсистемы аппаратной абстракции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5"/>
          <p:cNvSpPr/>
          <p:nvPr/>
        </p:nvSpPr>
        <p:spPr>
          <a:xfrm>
            <a:off x="574200" y="3353760"/>
            <a:ext cx="4352760" cy="1617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Box 26"/>
          <p:cNvSpPr/>
          <p:nvPr/>
        </p:nvSpPr>
        <p:spPr>
          <a:xfrm>
            <a:off x="754200" y="3352680"/>
            <a:ext cx="43185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реализации закона управления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7"/>
          <p:cNvSpPr/>
          <p:nvPr/>
        </p:nvSpPr>
        <p:spPr>
          <a:xfrm>
            <a:off x="754200" y="3999600"/>
            <a:ext cx="417276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Позволяет уточнять математическую модель независимо от остальных подсистем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28"/>
          <p:cNvSpPr/>
          <p:nvPr/>
        </p:nvSpPr>
        <p:spPr>
          <a:xfrm>
            <a:off x="574200" y="5152680"/>
            <a:ext cx="4318560" cy="143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Box 29"/>
          <p:cNvSpPr/>
          <p:nvPr/>
        </p:nvSpPr>
        <p:spPr>
          <a:xfrm>
            <a:off x="654480" y="5152680"/>
            <a:ext cx="38782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Аппаратная абстракция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0"/>
          <p:cNvSpPr/>
          <p:nvPr/>
        </p:nvSpPr>
        <p:spPr>
          <a:xfrm>
            <a:off x="654480" y="5530680"/>
            <a:ext cx="423828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Позволяет адаптировать программу под аппаратную платформу независимо от остальных подсистем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lideNumber_7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7/17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5400000" y="900000"/>
            <a:ext cx="5875200" cy="587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0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0" y="22644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Шаг алгоритма управления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2"/>
          <p:cNvSpPr/>
          <p:nvPr/>
        </p:nvSpPr>
        <p:spPr>
          <a:xfrm>
            <a:off x="540000" y="90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Rounded Rectangle 13"/>
          <p:cNvSpPr/>
          <p:nvPr/>
        </p:nvSpPr>
        <p:spPr>
          <a:xfrm>
            <a:off x="507240" y="1346040"/>
            <a:ext cx="4352400" cy="474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802800" y="1497960"/>
            <a:ext cx="40568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Содержание одного шага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671760" y="1935360"/>
            <a:ext cx="4056840" cy="40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 данным энкодеров определяется фактический скоростной профиль платформы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 основе команды движения и фактического скоростного профиля формируются управляющие воздействия на моторы.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Сформированные управляющие воздействия передаются на левый и правый моторы платформы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655200" y="5481000"/>
            <a:ext cx="510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lideNumber_8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8/17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"/>
          <p:cNvPicPr/>
          <p:nvPr/>
        </p:nvPicPr>
        <p:blipFill>
          <a:blip r:embed="rId1"/>
          <a:stretch/>
        </p:blipFill>
        <p:spPr>
          <a:xfrm>
            <a:off x="4901760" y="1066680"/>
            <a:ext cx="6977880" cy="523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0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548640" y="199800"/>
            <a:ext cx="10969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Интеграция с симулятором Webots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2"/>
          <p:cNvSpPr/>
          <p:nvPr/>
        </p:nvSpPr>
        <p:spPr>
          <a:xfrm>
            <a:off x="540000" y="90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Rounded Rectangle 13"/>
          <p:cNvSpPr/>
          <p:nvPr/>
        </p:nvSpPr>
        <p:spPr>
          <a:xfrm>
            <a:off x="720000" y="3066120"/>
            <a:ext cx="4531320" cy="125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Box 14"/>
          <p:cNvSpPr/>
          <p:nvPr/>
        </p:nvSpPr>
        <p:spPr>
          <a:xfrm>
            <a:off x="884520" y="3098160"/>
            <a:ext cx="41940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Заменяется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884520" y="3519000"/>
            <a:ext cx="4194000" cy="12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Реализации интерфейсов аппаратной абстракции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6"/>
          <p:cNvSpPr/>
          <p:nvPr/>
        </p:nvSpPr>
        <p:spPr>
          <a:xfrm>
            <a:off x="695520" y="1296360"/>
            <a:ext cx="4523040" cy="158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860040" y="1260000"/>
            <a:ext cx="41940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Неизменно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8"/>
          <p:cNvSpPr/>
          <p:nvPr/>
        </p:nvSpPr>
        <p:spPr>
          <a:xfrm>
            <a:off x="860040" y="1626120"/>
            <a:ext cx="419400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организации управления.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Подсистема реализации закона управления.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9"/>
          <p:cNvSpPr/>
          <p:nvPr/>
        </p:nvSpPr>
        <p:spPr>
          <a:xfrm>
            <a:off x="720000" y="5040000"/>
            <a:ext cx="4524480" cy="143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Box 20"/>
          <p:cNvSpPr/>
          <p:nvPr/>
        </p:nvSpPr>
        <p:spPr>
          <a:xfrm>
            <a:off x="876240" y="5086440"/>
            <a:ext cx="41940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Назначение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876240" y="5458680"/>
            <a:ext cx="419400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Проверка программы управления до переноса на микроконтроллер STM32.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lideNumber_9"/>
          <p:cNvSpPr/>
          <p:nvPr/>
        </p:nvSpPr>
        <p:spPr>
          <a:xfrm>
            <a:off x="11413080" y="6419160"/>
            <a:ext cx="45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9/17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"/>
          <p:cNvPicPr/>
          <p:nvPr/>
        </p:nvPicPr>
        <p:blipFill>
          <a:blip r:embed="rId1"/>
          <a:stretch/>
        </p:blipFill>
        <p:spPr>
          <a:xfrm>
            <a:off x="6480000" y="1260000"/>
            <a:ext cx="4319640" cy="539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Image 0" descr="/mnt/data/extracted_package/ppt/media/image11.png"/>
          <p:cNvPicPr/>
          <p:nvPr/>
        </p:nvPicPr>
        <p:blipFill>
          <a:blip r:embed="rId1"/>
          <a:stretch/>
        </p:blipFill>
        <p:spPr>
          <a:xfrm>
            <a:off x="465480" y="1337760"/>
            <a:ext cx="5474160" cy="419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0000" y="1081080"/>
            <a:ext cx="6045840" cy="3418560"/>
          </a:xfrm>
          <a:prstGeom prst="rect">
            <a:avLst/>
          </a:prstGeom>
          <a:ln w="0">
            <a:noFill/>
          </a:ln>
        </p:spPr>
      </p:pic>
      <p:sp>
        <p:nvSpPr>
          <p:cNvPr id="222" name="TextBox 10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0" y="22644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движение по прямой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2"/>
          <p:cNvSpPr/>
          <p:nvPr/>
        </p:nvSpPr>
        <p:spPr>
          <a:xfrm>
            <a:off x="540000" y="88452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685800" y="5532120"/>
            <a:ext cx="5391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4"/>
          <p:cNvSpPr/>
          <p:nvPr/>
        </p:nvSpPr>
        <p:spPr>
          <a:xfrm>
            <a:off x="6480000" y="4680000"/>
            <a:ext cx="5025960" cy="159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6629400" y="4748040"/>
            <a:ext cx="46969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540000" y="5532120"/>
            <a:ext cx="468144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lideNumber_10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10/17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5488200" y="3125880"/>
            <a:ext cx="1266840" cy="6318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5488200" y="3125880"/>
            <a:ext cx="1266840" cy="6318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"/>
          <p:cNvPicPr/>
          <p:nvPr/>
        </p:nvPicPr>
        <p:blipFill>
          <a:blip r:embed="rId7"/>
          <a:stretch/>
        </p:blipFill>
        <p:spPr>
          <a:xfrm>
            <a:off x="1800000" y="5583240"/>
            <a:ext cx="261576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/>
          <p:cNvPicPr/>
          <p:nvPr/>
        </p:nvPicPr>
        <p:blipFill>
          <a:blip r:embed="rId8"/>
          <a:stretch/>
        </p:blipFill>
        <p:spPr>
          <a:xfrm>
            <a:off x="6625440" y="5220000"/>
            <a:ext cx="1472760" cy="66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"/>
          <p:cNvPicPr/>
          <p:nvPr/>
        </p:nvPicPr>
        <p:blipFill>
          <a:blip r:embed="rId9"/>
          <a:stretch/>
        </p:blipFill>
        <p:spPr>
          <a:xfrm>
            <a:off x="8466480" y="5219640"/>
            <a:ext cx="1792080" cy="76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35"/>
          <p:cNvSpPr/>
          <p:nvPr/>
        </p:nvSpPr>
        <p:spPr>
          <a:xfrm>
            <a:off x="8460000" y="4748040"/>
            <a:ext cx="125856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Image 0" descr="/mnt/data/extracted_package/ppt/media/image14.png"/>
          <p:cNvPicPr/>
          <p:nvPr/>
        </p:nvPicPr>
        <p:blipFill>
          <a:blip r:embed="rId1"/>
          <a:stretch/>
        </p:blipFill>
        <p:spPr>
          <a:xfrm>
            <a:off x="230040" y="883440"/>
            <a:ext cx="5709240" cy="43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39640" y="883440"/>
            <a:ext cx="6076800" cy="3436200"/>
          </a:xfrm>
          <a:prstGeom prst="rect">
            <a:avLst/>
          </a:prstGeom>
          <a:ln w="0">
            <a:noFill/>
          </a:ln>
        </p:spPr>
      </p:pic>
      <p:sp>
        <p:nvSpPr>
          <p:cNvPr id="238" name="TextBox 10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8640" y="180000"/>
            <a:ext cx="12181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поворот на месте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12"/>
          <p:cNvSpPr/>
          <p:nvPr/>
        </p:nvSpPr>
        <p:spPr>
          <a:xfrm>
            <a:off x="540000" y="72036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Box 13"/>
          <p:cNvSpPr/>
          <p:nvPr/>
        </p:nvSpPr>
        <p:spPr>
          <a:xfrm>
            <a:off x="900000" y="4915800"/>
            <a:ext cx="5391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4"/>
          <p:cNvSpPr/>
          <p:nvPr/>
        </p:nvSpPr>
        <p:spPr>
          <a:xfrm>
            <a:off x="6660000" y="4501080"/>
            <a:ext cx="5025960" cy="179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Box 15"/>
          <p:cNvSpPr/>
          <p:nvPr/>
        </p:nvSpPr>
        <p:spPr>
          <a:xfrm>
            <a:off x="6821640" y="4681080"/>
            <a:ext cx="10969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739080" y="5580000"/>
            <a:ext cx="4696920" cy="9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lideNumber_11"/>
          <p:cNvSpPr/>
          <p:nvPr/>
        </p:nvSpPr>
        <p:spPr>
          <a:xfrm>
            <a:off x="11295360" y="6419160"/>
            <a:ext cx="570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11/17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"/>
          <p:cNvPicPr/>
          <p:nvPr/>
        </p:nvPicPr>
        <p:blipFill>
          <a:blip r:embed="rId5"/>
          <a:stretch/>
        </p:blipFill>
        <p:spPr>
          <a:xfrm>
            <a:off x="2080800" y="5400000"/>
            <a:ext cx="277884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"/>
          <p:cNvPicPr/>
          <p:nvPr/>
        </p:nvPicPr>
        <p:blipFill>
          <a:blip r:embed="rId6"/>
          <a:stretch/>
        </p:blipFill>
        <p:spPr>
          <a:xfrm>
            <a:off x="6840000" y="5221080"/>
            <a:ext cx="1465200" cy="66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Box 34"/>
          <p:cNvSpPr/>
          <p:nvPr/>
        </p:nvSpPr>
        <p:spPr>
          <a:xfrm>
            <a:off x="8820000" y="4681080"/>
            <a:ext cx="125856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"/>
          <p:cNvPicPr/>
          <p:nvPr/>
        </p:nvPicPr>
        <p:blipFill>
          <a:blip r:embed="rId7"/>
          <a:stretch/>
        </p:blipFill>
        <p:spPr>
          <a:xfrm>
            <a:off x="8831880" y="5233320"/>
            <a:ext cx="2032920" cy="76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4440" y="1548360"/>
            <a:ext cx="7720920" cy="4537800"/>
          </a:xfrm>
          <a:prstGeom prst="rect">
            <a:avLst/>
          </a:prstGeom>
          <a:ln w="0">
            <a:noFill/>
          </a:ln>
        </p:spPr>
      </p:pic>
      <p:sp>
        <p:nvSpPr>
          <p:cNvPr id="251" name="TextBox 3"/>
          <p:cNvSpPr/>
          <p:nvPr/>
        </p:nvSpPr>
        <p:spPr>
          <a:xfrm>
            <a:off x="501840" y="8524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0" y="19080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траектория «квадрат»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5"/>
          <p:cNvSpPr/>
          <p:nvPr/>
        </p:nvSpPr>
        <p:spPr>
          <a:xfrm>
            <a:off x="456120" y="936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Rounded Rectangle 6"/>
          <p:cNvSpPr/>
          <p:nvPr/>
        </p:nvSpPr>
        <p:spPr>
          <a:xfrm rot="32400">
            <a:off x="7896240" y="1540800"/>
            <a:ext cx="4138560" cy="452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TextBox 7"/>
          <p:cNvSpPr/>
          <p:nvPr/>
        </p:nvSpPr>
        <p:spPr>
          <a:xfrm>
            <a:off x="8278920" y="1671120"/>
            <a:ext cx="2730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8"/>
          <p:cNvSpPr/>
          <p:nvPr/>
        </p:nvSpPr>
        <p:spPr>
          <a:xfrm>
            <a:off x="8623440" y="2091960"/>
            <a:ext cx="2730960" cy="15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777240" y="5623560"/>
            <a:ext cx="107409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lideNumber_12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12/17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"/>
          <p:cNvPicPr/>
          <p:nvPr/>
        </p:nvPicPr>
        <p:blipFill>
          <a:blip r:embed="rId4"/>
          <a:stretch/>
        </p:blipFill>
        <p:spPr>
          <a:xfrm>
            <a:off x="8144280" y="2003040"/>
            <a:ext cx="1392840" cy="10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"/>
          <p:cNvPicPr/>
          <p:nvPr/>
        </p:nvPicPr>
        <p:blipFill>
          <a:blip r:embed="rId5"/>
          <a:stretch/>
        </p:blipFill>
        <p:spPr>
          <a:xfrm>
            <a:off x="8157600" y="3718440"/>
            <a:ext cx="1488600" cy="10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"/>
          <p:cNvSpPr/>
          <p:nvPr/>
        </p:nvSpPr>
        <p:spPr>
          <a:xfrm>
            <a:off x="8098560" y="1631520"/>
            <a:ext cx="3958560" cy="10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Задание, 1 метр вперёд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053560" y="3369600"/>
            <a:ext cx="40039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Задание, поворот на 90 градусов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8157960" y="4989600"/>
            <a:ext cx="335952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ounded Rectangle 7"/>
          <p:cNvSpPr/>
          <p:nvPr/>
        </p:nvSpPr>
        <p:spPr>
          <a:xfrm>
            <a:off x="7921440" y="5581440"/>
            <a:ext cx="2338560" cy="125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Rounded Rectangle 3"/>
          <p:cNvSpPr/>
          <p:nvPr/>
        </p:nvSpPr>
        <p:spPr>
          <a:xfrm>
            <a:off x="178560" y="5760000"/>
            <a:ext cx="7560000" cy="94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Image 0" descr="/mnt/data/extracted_package/ppt/media/image17.png"/>
          <p:cNvPicPr/>
          <p:nvPr/>
        </p:nvPicPr>
        <p:blipFill>
          <a:blip r:embed="rId1"/>
          <a:stretch/>
        </p:blipFill>
        <p:spPr>
          <a:xfrm>
            <a:off x="360000" y="720000"/>
            <a:ext cx="5578200" cy="435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Image 1" descr="/mnt/data/extracted_package/ppt/media/image18.png"/>
          <p:cNvPicPr/>
          <p:nvPr/>
        </p:nvPicPr>
        <p:blipFill>
          <a:blip r:embed="rId2"/>
          <a:stretch/>
        </p:blipFill>
        <p:spPr>
          <a:xfrm>
            <a:off x="6378480" y="621360"/>
            <a:ext cx="5661360" cy="441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Box 13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0" y="7668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Webots: ошибки на траектории «квадрат»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5"/>
          <p:cNvSpPr/>
          <p:nvPr/>
        </p:nvSpPr>
        <p:spPr>
          <a:xfrm>
            <a:off x="540000" y="62748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900000" y="5040000"/>
            <a:ext cx="5208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6831000" y="5040000"/>
            <a:ext cx="5208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237240" y="5897880"/>
            <a:ext cx="7501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Пики ошибок возникают при переключении режимов.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Между переключениями ошибки возвращаются к малым значениям.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lideNumber_13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13/17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"/>
          <p:cNvPicPr/>
          <p:nvPr/>
        </p:nvPicPr>
        <p:blipFill>
          <a:blip r:embed="rId3"/>
          <a:stretch/>
        </p:blipFill>
        <p:spPr>
          <a:xfrm>
            <a:off x="1882800" y="5040000"/>
            <a:ext cx="261576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"/>
          <p:cNvPicPr/>
          <p:nvPr/>
        </p:nvPicPr>
        <p:blipFill>
          <a:blip r:embed="rId4"/>
          <a:stretch/>
        </p:blipFill>
        <p:spPr>
          <a:xfrm>
            <a:off x="8199360" y="5024160"/>
            <a:ext cx="277884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"/>
          <p:cNvPicPr/>
          <p:nvPr/>
        </p:nvPicPr>
        <p:blipFill>
          <a:blip r:embed="rId5"/>
          <a:stretch/>
        </p:blipFill>
        <p:spPr>
          <a:xfrm>
            <a:off x="8015760" y="5925600"/>
            <a:ext cx="2242800" cy="73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Box 36"/>
          <p:cNvSpPr/>
          <p:nvPr/>
        </p:nvSpPr>
        <p:spPr>
          <a:xfrm>
            <a:off x="2217240" y="4735080"/>
            <a:ext cx="75013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8015760" y="5580000"/>
            <a:ext cx="1340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Метрики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Image 0" descr="/mnt/data/extracted_package/ppt/media/image19.jpeg"/>
          <p:cNvPicPr/>
          <p:nvPr/>
        </p:nvPicPr>
        <p:blipFill>
          <a:blip r:embed="rId1"/>
          <a:stretch/>
        </p:blipFill>
        <p:spPr>
          <a:xfrm>
            <a:off x="540000" y="950760"/>
            <a:ext cx="5218560" cy="401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13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4"/>
          <p:cNvSpPr/>
          <p:nvPr/>
        </p:nvSpPr>
        <p:spPr>
          <a:xfrm>
            <a:off x="1440" y="18000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Тестирование на микроконтроллере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5"/>
          <p:cNvSpPr/>
          <p:nvPr/>
        </p:nvSpPr>
        <p:spPr>
          <a:xfrm>
            <a:off x="540000" y="72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Box 16"/>
          <p:cNvSpPr/>
          <p:nvPr/>
        </p:nvSpPr>
        <p:spPr>
          <a:xfrm>
            <a:off x="436320" y="4968360"/>
            <a:ext cx="53002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Тестовый стенд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7"/>
          <p:cNvSpPr/>
          <p:nvPr/>
        </p:nvSpPr>
        <p:spPr>
          <a:xfrm>
            <a:off x="-2863080" y="4680000"/>
            <a:ext cx="1042092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lideNumber_14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14/17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1"/>
          <p:cNvSpPr/>
          <p:nvPr/>
        </p:nvSpPr>
        <p:spPr>
          <a:xfrm>
            <a:off x="484560" y="5207760"/>
            <a:ext cx="4194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2"/>
          <p:cNvSpPr/>
          <p:nvPr/>
        </p:nvSpPr>
        <p:spPr>
          <a:xfrm>
            <a:off x="360000" y="5400000"/>
            <a:ext cx="4531320" cy="125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TextBox 32"/>
          <p:cNvSpPr/>
          <p:nvPr/>
        </p:nvSpPr>
        <p:spPr>
          <a:xfrm>
            <a:off x="484560" y="5400000"/>
            <a:ext cx="419400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Заменяется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3"/>
          <p:cNvSpPr/>
          <p:nvPr/>
        </p:nvSpPr>
        <p:spPr>
          <a:xfrm>
            <a:off x="484560" y="5763960"/>
            <a:ext cx="4194000" cy="12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Реализации интерфейсов аппаратной абстракции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"/>
          <p:cNvPicPr/>
          <p:nvPr/>
        </p:nvPicPr>
        <p:blipFill>
          <a:blip r:embed="rId2"/>
          <a:stretch/>
        </p:blipFill>
        <p:spPr>
          <a:xfrm>
            <a:off x="6552360" y="946800"/>
            <a:ext cx="4427280" cy="553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ounded Rectangle 4"/>
          <p:cNvSpPr/>
          <p:nvPr/>
        </p:nvSpPr>
        <p:spPr>
          <a:xfrm>
            <a:off x="360000" y="5760360"/>
            <a:ext cx="7738560" cy="94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BEBEB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3" name="Image 0" descr="/mnt/data/extracted_package/ppt/media/image21.png"/>
          <p:cNvPicPr/>
          <p:nvPr/>
        </p:nvPicPr>
        <p:blipFill>
          <a:blip r:embed="rId1"/>
          <a:stretch/>
        </p:blipFill>
        <p:spPr>
          <a:xfrm>
            <a:off x="357840" y="1081440"/>
            <a:ext cx="5401800" cy="41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Image 1" descr="/mnt/data/extracted_package/ppt/media/image22.png"/>
          <p:cNvPicPr/>
          <p:nvPr/>
        </p:nvPicPr>
        <p:blipFill>
          <a:blip r:embed="rId2"/>
          <a:stretch/>
        </p:blipFill>
        <p:spPr>
          <a:xfrm>
            <a:off x="6443280" y="1056240"/>
            <a:ext cx="5434920" cy="41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Box 13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4"/>
          <p:cNvSpPr/>
          <p:nvPr/>
        </p:nvSpPr>
        <p:spPr>
          <a:xfrm>
            <a:off x="548640" y="243720"/>
            <a:ext cx="10969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Результаты тестирования на микроконтроллере STM32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5"/>
          <p:cNvSpPr/>
          <p:nvPr/>
        </p:nvSpPr>
        <p:spPr>
          <a:xfrm>
            <a:off x="540000" y="90000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Box 16"/>
          <p:cNvSpPr/>
          <p:nvPr/>
        </p:nvSpPr>
        <p:spPr>
          <a:xfrm>
            <a:off x="1080000" y="5381640"/>
            <a:ext cx="5208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7"/>
          <p:cNvSpPr/>
          <p:nvPr/>
        </p:nvSpPr>
        <p:spPr>
          <a:xfrm>
            <a:off x="6840000" y="5058720"/>
            <a:ext cx="52088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lideNumber_15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15/17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433800" y="5902200"/>
            <a:ext cx="114706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Пики ошибок возникают при переключении режимов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Между переключениями ошибки возвращаются к малым значениям.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439960" y="2899800"/>
            <a:ext cx="1268280" cy="6332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451480" y="2378160"/>
            <a:ext cx="1268280" cy="6332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"/>
          <p:cNvPicPr/>
          <p:nvPr/>
        </p:nvPicPr>
        <p:blipFill>
          <a:blip r:embed="rId5"/>
          <a:stretch/>
        </p:blipFill>
        <p:spPr>
          <a:xfrm>
            <a:off x="1800000" y="5220000"/>
            <a:ext cx="261576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/>
          <p:cNvPicPr/>
          <p:nvPr/>
        </p:nvPicPr>
        <p:blipFill>
          <a:blip r:embed="rId6"/>
          <a:stretch/>
        </p:blipFill>
        <p:spPr>
          <a:xfrm>
            <a:off x="7919640" y="5220000"/>
            <a:ext cx="277884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/>
          <p:nvPr/>
        </p:nvSpPr>
        <p:spPr>
          <a:xfrm>
            <a:off x="502920" y="18288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"/>
          <p:cNvSpPr/>
          <p:nvPr/>
        </p:nvSpPr>
        <p:spPr>
          <a:xfrm>
            <a:off x="0" y="360000"/>
            <a:ext cx="121903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Результаты работы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3"/>
          <p:cNvSpPr/>
          <p:nvPr/>
        </p:nvSpPr>
        <p:spPr>
          <a:xfrm>
            <a:off x="540000" y="1064520"/>
            <a:ext cx="11061000" cy="15120"/>
          </a:xfrm>
          <a:prstGeom prst="rect">
            <a:avLst/>
          </a:prstGeom>
          <a:solidFill>
            <a:srgbClr val="BEBEB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17280" y="4457880"/>
            <a:ext cx="52092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5"/>
          <p:cNvSpPr/>
          <p:nvPr/>
        </p:nvSpPr>
        <p:spPr>
          <a:xfrm>
            <a:off x="540000" y="4614480"/>
            <a:ext cx="9780840" cy="7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690120" y="3091680"/>
            <a:ext cx="97808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7"/>
          <p:cNvSpPr/>
          <p:nvPr/>
        </p:nvSpPr>
        <p:spPr>
          <a:xfrm>
            <a:off x="38520" y="4860000"/>
            <a:ext cx="4996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657360" y="5053320"/>
            <a:ext cx="9780840" cy="7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"/>
          <p:cNvSpPr/>
          <p:nvPr/>
        </p:nvSpPr>
        <p:spPr>
          <a:xfrm>
            <a:off x="1557000" y="4272840"/>
            <a:ext cx="97808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3"/>
          <p:cNvSpPr/>
          <p:nvPr/>
        </p:nvSpPr>
        <p:spPr>
          <a:xfrm>
            <a:off x="77040" y="5400000"/>
            <a:ext cx="4996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4"/>
          <p:cNvSpPr/>
          <p:nvPr/>
        </p:nvSpPr>
        <p:spPr>
          <a:xfrm>
            <a:off x="657360" y="5760000"/>
            <a:ext cx="978084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5"/>
          <p:cNvSpPr/>
          <p:nvPr/>
        </p:nvSpPr>
        <p:spPr>
          <a:xfrm>
            <a:off x="1508760" y="5157360"/>
            <a:ext cx="97808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6"/>
          <p:cNvSpPr/>
          <p:nvPr/>
        </p:nvSpPr>
        <p:spPr>
          <a:xfrm>
            <a:off x="822960" y="5897880"/>
            <a:ext cx="106038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lideNumber_16"/>
          <p:cNvSpPr/>
          <p:nvPr/>
        </p:nvSpPr>
        <p:spPr>
          <a:xfrm>
            <a:off x="11286000" y="6419160"/>
            <a:ext cx="57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000" b="0" u="none" strike="noStrike">
                <a:solidFill>
                  <a:srgbClr val="5A5A5A"/>
                </a:solidFill>
                <a:effectLst/>
                <a:uFillTx/>
                <a:latin typeface="Times New Roman"/>
                <a:ea typeface="Times New Roman"/>
              </a:rPr>
              <a:t>16/17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1508760" y="5220000"/>
            <a:ext cx="928872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541440" y="1213200"/>
            <a:ext cx="1097820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Разработана программа управления ходовой частью наземного четырёхколёсного робота на базе микроконтроллеров STM32.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Спроектирована архитектура позволяющая переносить программу управления роботом на произвольные аппаратные платформы и уточнять математическую модель робота независимо от остальных подсистем 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Разработан закон управления для проведении тестирования работы робота в условиях симулятора.</a:t>
            </a: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41414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 Проведены 3 сценария тестирования в симуляторе и один сценарий на микроконтроллере, позволяющие сделать вывод о корректности работы программы.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1"/>
          <p:cNvSpPr/>
          <p:nvPr/>
        </p:nvSpPr>
        <p:spPr>
          <a:xfrm>
            <a:off x="1143000" y="2423160"/>
            <a:ext cx="987228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38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Спасибо за внимание</a:t>
            </a:r>
            <a:endParaRPr lang="ru-RU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"/>
          <p:cNvSpPr/>
          <p:nvPr/>
        </p:nvSpPr>
        <p:spPr>
          <a:xfrm>
            <a:off x="1143000" y="3474720"/>
            <a:ext cx="98722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lideNumber_17"/>
          <p:cNvSpPr/>
          <p:nvPr/>
        </p:nvSpPr>
        <p:spPr>
          <a:xfrm>
            <a:off x="11414160" y="6419160"/>
            <a:ext cx="4514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Application>LibreOffice/26.2.4.2$Linux_X86_64 LibreOffice_project/620$Build-2</Application>
  <AppVersion>15.0000</AppVersion>
  <Company>Технологический университет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2026-06-07T22:50:42Z</dcterms:created>
  <dc:creator>Михно Павел Юрьевич</dc:creator>
  <dc:description/>
  <dc:language>ru-RU</dc:language>
  <cp:lastModifiedBy/>
  <cp:lastPrinted>2026-06-22T03:43:16Z</cp:lastPrinted>
  <dcterms:modified xsi:type="dcterms:W3CDTF">2026-06-22T12:11:19Z</dcterms:modified>
  <cp:revision>48</cp:revision>
  <dc:subject>ВКР</dc:subject>
  <dc:title>Разработка программы управления ходовой частью наземного четырёхколёсного робота на базе микроконтроллеров STM32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