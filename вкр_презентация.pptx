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6.emf" ContentType="image/x-emf"/>
  <Override PartName="/ppt/media/image15.emf" ContentType="image/x-emf"/>
  <Override PartName="/ppt/media/image4.emf" ContentType="image/x-emf"/>
  <Override PartName="/ppt/media/image10.emf" ContentType="image/x-emf"/>
  <Override PartName="/ppt/media/image14.emf" ContentType="image/x-emf"/>
  <Override PartName="/ppt/media/image11.emf" ContentType="image/x-emf"/>
  <Override PartName="/ppt/media/image28.emf" ContentType="image/x-emf"/>
  <Override PartName="/ppt/media/image26.emf" ContentType="image/x-emf"/>
  <Override PartName="/ppt/media/image49.emf" ContentType="image/x-emf"/>
  <Override PartName="/ppt/media/image33.emf" ContentType="image/x-emf"/>
  <Override PartName="/ppt/media/image7.emf" ContentType="image/x-emf"/>
  <Override PartName="/ppt/media/image25.emf" ContentType="image/x-emf"/>
  <Override PartName="/ppt/media/image48.emf" ContentType="image/x-emf"/>
  <Override PartName="/ppt/media/image20.emf" ContentType="image/x-emf"/>
  <Override PartName="/ppt/media/image5.emf" ContentType="image/x-emf"/>
  <Override PartName="/ppt/media/image44.emf" ContentType="image/x-emf"/>
  <Override PartName="/ppt/media/image52.emf" ContentType="image/x-emf"/>
  <Override PartName="/ppt/media/image23.emf" ContentType="image/x-emf"/>
  <Override PartName="/ppt/media/image42.emf" ContentType="image/x-emf"/>
  <Override PartName="/ppt/media/image22.emf" ContentType="image/x-emf"/>
  <Override PartName="/ppt/media/image29.emf" ContentType="image/x-emf"/>
  <Override PartName="/ppt/media/image30.emf" ContentType="image/x-emf"/>
  <Override PartName="/ppt/media/image34.emf" ContentType="image/x-emf"/>
  <Override PartName="/ppt/media/image17.emf" ContentType="image/x-emf"/>
  <Override PartName="/ppt/media/image8.emf" ContentType="image/x-emf"/>
  <Override PartName="/ppt/media/image13.emf" ContentType="image/x-emf"/>
  <Override PartName="/ppt/media/image12.emf" ContentType="image/x-emf"/>
  <Override PartName="/ppt/media/image56.emf" ContentType="image/x-emf"/>
  <Override PartName="/ppt/media/image18.emf" ContentType="image/x-emf"/>
  <Override PartName="/ppt/media/image27.emf" ContentType="image/x-emf"/>
  <Override PartName="/ppt/media/image9.emf" ContentType="image/x-emf"/>
  <Override PartName="/ppt/media/media46.mp4" ContentType="video/mp4"/>
  <Override PartName="/ppt/media/image24.emf" ContentType="image/x-emf"/>
  <Override PartName="/ppt/media/image41.emf" ContentType="image/x-emf"/>
  <Override PartName="/ppt/media/image31.emf" ContentType="image/x-emf"/>
  <Override PartName="/ppt/media/media39.mp4" ContentType="video/mp4"/>
  <Override PartName="/ppt/media/image32.emf" ContentType="image/x-emf"/>
  <Override PartName="/ppt/media/media50.mp4" ContentType="video/mp4"/>
  <Override PartName="/ppt/media/image43.emf" ContentType="image/x-emf"/>
  <Override PartName="/ppt/media/image6.emf" ContentType="image/x-emf"/>
  <Override PartName="/ppt/media/image19.emf" ContentType="image/x-emf"/>
  <Override PartName="/ppt/media/image21.emf" ContentType="image/x-emf"/>
  <Override PartName="/ppt/media/image53.emf" ContentType="image/x-emf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6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перемещения страницы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4DEF56D-BF14-4A52-BD07-B1EB2351363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231E8F-4A98-4787-9606-184B436A4C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C0997A-F7D4-4DA4-B6E6-AD30745FBE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512EC8-3CE2-4B02-BEAF-9FBACBB1E1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24DBC8-C64D-4161-9EEE-B29A3E04B2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A914DF-AE02-4E5B-A8B8-3401109629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02656D-6D21-49D3-A4B4-49A236B45E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300CB0-5177-44EC-84D7-0134FA7C0A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0D88A9-9CAB-4EED-88B4-7928E24F01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E82C94-C5AD-4ECC-B054-0C1D566D0B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F22322-2AE9-4FE1-910C-E8AD8F423E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8F013C-1088-4BC5-AFD1-56C65620DF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1A5DE0-50A7-4973-BFFF-57B04F22C9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C2BB6F-7B2A-446C-8A12-3838734F92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F81C9A8-A44C-4059-BC5C-3F61E364CD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99C249-6E3F-4D57-84D4-41066BF0B5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image" Target="../media/image6.emf"/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9.emf"/><Relationship Id="rId6" Type="http://schemas.openxmlformats.org/officeDocument/2006/relationships/image" Target="../media/image6.emf"/><Relationship Id="rId7" Type="http://schemas.openxmlformats.org/officeDocument/2006/relationships/image" Target="../media/image10.emf"/><Relationship Id="rId8" Type="http://schemas.openxmlformats.org/officeDocument/2006/relationships/image" Target="../media/image11.emf"/><Relationship Id="rId9" Type="http://schemas.openxmlformats.org/officeDocument/2006/relationships/image" Target="../media/image9.emf"/><Relationship Id="rId10" Type="http://schemas.openxmlformats.org/officeDocument/2006/relationships/image" Target="../media/image12.emf"/><Relationship Id="rId11" Type="http://schemas.openxmlformats.org/officeDocument/2006/relationships/image" Target="../media/image13.emf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image" Target="../media/image6.emf"/><Relationship Id="rId3" Type="http://schemas.openxmlformats.org/officeDocument/2006/relationships/image" Target="../media/image6.emf"/><Relationship Id="rId4" Type="http://schemas.openxmlformats.org/officeDocument/2006/relationships/image" Target="../media/image6.emf"/><Relationship Id="rId5" Type="http://schemas.openxmlformats.org/officeDocument/2006/relationships/image" Target="../media/image6.emf"/><Relationship Id="rId6" Type="http://schemas.openxmlformats.org/officeDocument/2006/relationships/image" Target="../media/image14.emf"/><Relationship Id="rId7" Type="http://schemas.openxmlformats.org/officeDocument/2006/relationships/image" Target="../media/image15.emf"/><Relationship Id="rId8" Type="http://schemas.openxmlformats.org/officeDocument/2006/relationships/image" Target="../media/image16.emf"/><Relationship Id="rId9" Type="http://schemas.openxmlformats.org/officeDocument/2006/relationships/image" Target="../media/image17.emf"/><Relationship Id="rId10" Type="http://schemas.openxmlformats.org/officeDocument/2006/relationships/image" Target="../media/image18.emf"/><Relationship Id="rId11" Type="http://schemas.openxmlformats.org/officeDocument/2006/relationships/image" Target="../media/image19.emf"/><Relationship Id="rId12" Type="http://schemas.openxmlformats.org/officeDocument/2006/relationships/image" Target="../media/image20.emf"/><Relationship Id="rId13" Type="http://schemas.openxmlformats.org/officeDocument/2006/relationships/image" Target="../media/image21.emf"/><Relationship Id="rId14" Type="http://schemas.openxmlformats.org/officeDocument/2006/relationships/image" Target="../media/image22.emf"/><Relationship Id="rId15" Type="http://schemas.openxmlformats.org/officeDocument/2006/relationships/image" Target="../media/image23.emf"/><Relationship Id="rId16" Type="http://schemas.openxmlformats.org/officeDocument/2006/relationships/image" Target="../media/image24.emf"/><Relationship Id="rId17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image" Target="../media/image6.emf"/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5" Type="http://schemas.openxmlformats.org/officeDocument/2006/relationships/image" Target="../media/image21.emf"/><Relationship Id="rId6" Type="http://schemas.openxmlformats.org/officeDocument/2006/relationships/image" Target="../media/image27.emf"/><Relationship Id="rId7" Type="http://schemas.openxmlformats.org/officeDocument/2006/relationships/image" Target="../media/image28.emf"/><Relationship Id="rId8" Type="http://schemas.openxmlformats.org/officeDocument/2006/relationships/image" Target="../media/image29.emf"/><Relationship Id="rId9" Type="http://schemas.openxmlformats.org/officeDocument/2006/relationships/image" Target="../media/image30.emf"/><Relationship Id="rId10" Type="http://schemas.openxmlformats.org/officeDocument/2006/relationships/image" Target="../media/image31.emf"/><Relationship Id="rId11" Type="http://schemas.openxmlformats.org/officeDocument/2006/relationships/image" Target="../media/image32.emf"/><Relationship Id="rId12" Type="http://schemas.openxmlformats.org/officeDocument/2006/relationships/image" Target="../media/image33.emf"/><Relationship Id="rId13" Type="http://schemas.openxmlformats.org/officeDocument/2006/relationships/image" Target="../media/image34.emf"/><Relationship Id="rId14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video" Target="../media/media39.mp4"/><Relationship Id="rId3" Type="http://schemas.microsoft.com/office/2007/relationships/media" Target="../media/media39.mp4"/><Relationship Id="rId4" Type="http://schemas.openxmlformats.org/officeDocument/2006/relationships/image" Target="../media/image40.png"/><Relationship Id="rId5" Type="http://schemas.openxmlformats.org/officeDocument/2006/relationships/image" Target="../media/image41.emf"/><Relationship Id="rId6" Type="http://schemas.openxmlformats.org/officeDocument/2006/relationships/image" Target="../media/image41.emf"/><Relationship Id="rId7" Type="http://schemas.openxmlformats.org/officeDocument/2006/relationships/image" Target="../media/image42.emf"/><Relationship Id="rId8" Type="http://schemas.openxmlformats.org/officeDocument/2006/relationships/image" Target="../media/image43.emf"/><Relationship Id="rId9" Type="http://schemas.openxmlformats.org/officeDocument/2006/relationships/image" Target="../media/image44.emf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video" Target="../media/media46.mp4"/><Relationship Id="rId3" Type="http://schemas.microsoft.com/office/2007/relationships/media" Target="../media/media46.mp4"/><Relationship Id="rId4" Type="http://schemas.openxmlformats.org/officeDocument/2006/relationships/image" Target="../media/image47.png"/><Relationship Id="rId5" Type="http://schemas.openxmlformats.org/officeDocument/2006/relationships/image" Target="../media/image26.emf"/><Relationship Id="rId6" Type="http://schemas.openxmlformats.org/officeDocument/2006/relationships/image" Target="../media/image48.emf"/><Relationship Id="rId7" Type="http://schemas.openxmlformats.org/officeDocument/2006/relationships/image" Target="../media/image49.emf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video" Target="../media/media50.mp4"/><Relationship Id="rId2" Type="http://schemas.microsoft.com/office/2007/relationships/media" Target="../media/media50.mp4"/><Relationship Id="rId3" Type="http://schemas.openxmlformats.org/officeDocument/2006/relationships/image" Target="../media/image51.png"/><Relationship Id="rId4" Type="http://schemas.openxmlformats.org/officeDocument/2006/relationships/image" Target="../media/image52.emf"/><Relationship Id="rId5" Type="http://schemas.openxmlformats.org/officeDocument/2006/relationships/image" Target="../media/image53.emf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image" Target="../media/image42.emf"/><Relationship Id="rId4" Type="http://schemas.openxmlformats.org/officeDocument/2006/relationships/image" Target="../media/image26.emf"/><Relationship Id="rId5" Type="http://schemas.openxmlformats.org/officeDocument/2006/relationships/image" Target="../media/image56.emf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image" Target="../media/image58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.emf"/><Relationship Id="rId4" Type="http://schemas.openxmlformats.org/officeDocument/2006/relationships/image" Target="../media/image6.emf"/><Relationship Id="rId5" Type="http://schemas.openxmlformats.org/officeDocument/2006/relationships/image" Target="../media/image42.emf"/><Relationship Id="rId6" Type="http://schemas.openxmlformats.org/officeDocument/2006/relationships/image" Target="../media/image26.emf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 descr="/mnt/data/extracted_package/ppt/media/image1.png"/>
          <p:cNvPicPr/>
          <p:nvPr/>
        </p:nvPicPr>
        <p:blipFill>
          <a:blip r:embed="rId1"/>
          <a:stretch/>
        </p:blipFill>
        <p:spPr>
          <a:xfrm>
            <a:off x="2160000" y="91080"/>
            <a:ext cx="6838200" cy="170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Box 3"/>
          <p:cNvSpPr/>
          <p:nvPr/>
        </p:nvSpPr>
        <p:spPr>
          <a:xfrm>
            <a:off x="728640" y="3060000"/>
            <a:ext cx="10970280" cy="14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Разработка </a:t>
            </a: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программы </a:t>
            </a: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управления </a:t>
            </a: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ходовой частью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наземного </a:t>
            </a: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четырёхколёсного </a:t>
            </a: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робота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на базе </a:t>
            </a: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микроконтроллеро</a:t>
            </a: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в stm32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Box 4"/>
          <p:cNvSpPr/>
          <p:nvPr/>
        </p:nvSpPr>
        <p:spPr>
          <a:xfrm>
            <a:off x="4452120" y="5040000"/>
            <a:ext cx="77389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Автор: студент группы ПМИ-22 Михно Павел Юрьевич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Руководитель ВКР: к. т. н., доцент Бугай Ирина Владимировна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Box 5"/>
          <p:cNvSpPr/>
          <p:nvPr/>
        </p:nvSpPr>
        <p:spPr>
          <a:xfrm>
            <a:off x="1080000" y="1980000"/>
            <a:ext cx="996444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Институт инфокоммуникационных систем и технологий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Кафедра математики и естественнонаучных дисциплин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Box 6"/>
          <p:cNvSpPr/>
          <p:nvPr/>
        </p:nvSpPr>
        <p:spPr>
          <a:xfrm>
            <a:off x="3600000" y="6300000"/>
            <a:ext cx="37465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г. Королёв, 2026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lideNumber_1"/>
          <p:cNvSpPr/>
          <p:nvPr/>
        </p:nvSpPr>
        <p:spPr>
          <a:xfrm>
            <a:off x="11064240" y="6419160"/>
            <a:ext cx="8020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1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Box 2"/>
          <p:cNvSpPr/>
          <p:nvPr/>
        </p:nvSpPr>
        <p:spPr>
          <a:xfrm>
            <a:off x="8640" y="7920"/>
            <a:ext cx="12182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Цель и задачи работы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ectangle 3"/>
          <p:cNvSpPr/>
          <p:nvPr/>
        </p:nvSpPr>
        <p:spPr>
          <a:xfrm>
            <a:off x="540000" y="50148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TextBox 4"/>
          <p:cNvSpPr/>
          <p:nvPr/>
        </p:nvSpPr>
        <p:spPr>
          <a:xfrm>
            <a:off x="900000" y="668880"/>
            <a:ext cx="1060452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Цель: разработать для микроконтроллерной платформы STM32 программу управления ходовой частью робота, формирующую воздействия на левый и правый приводы и обеспечивающую достижение и поддержание заданных линейной и угловой скоростей.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Rounded Rectangle 5"/>
          <p:cNvSpPr/>
          <p:nvPr/>
        </p:nvSpPr>
        <p:spPr>
          <a:xfrm>
            <a:off x="822960" y="2340000"/>
            <a:ext cx="4935600" cy="168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TextBox 6"/>
          <p:cNvSpPr/>
          <p:nvPr/>
        </p:nvSpPr>
        <p:spPr>
          <a:xfrm>
            <a:off x="981360" y="2477880"/>
            <a:ext cx="63756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7"/>
          <p:cNvSpPr/>
          <p:nvPr/>
        </p:nvSpPr>
        <p:spPr>
          <a:xfrm>
            <a:off x="981360" y="2477880"/>
            <a:ext cx="3883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1 Объект управления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8"/>
          <p:cNvSpPr/>
          <p:nvPr/>
        </p:nvSpPr>
        <p:spPr>
          <a:xfrm>
            <a:off x="1208160" y="2905920"/>
            <a:ext cx="43189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Описание  робота(платформы) и определение её параметров движения.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ounded Rectangle 9"/>
          <p:cNvSpPr/>
          <p:nvPr/>
        </p:nvSpPr>
        <p:spPr>
          <a:xfrm>
            <a:off x="6355080" y="2340000"/>
            <a:ext cx="4983480" cy="186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TextBox 10"/>
          <p:cNvSpPr/>
          <p:nvPr/>
        </p:nvSpPr>
        <p:spPr>
          <a:xfrm>
            <a:off x="6519600" y="2477880"/>
            <a:ext cx="63756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Box 11"/>
          <p:cNvSpPr/>
          <p:nvPr/>
        </p:nvSpPr>
        <p:spPr>
          <a:xfrm>
            <a:off x="6519600" y="2508480"/>
            <a:ext cx="46393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2 Закон управления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12"/>
          <p:cNvSpPr/>
          <p:nvPr/>
        </p:nvSpPr>
        <p:spPr>
          <a:xfrm>
            <a:off x="6735240" y="2880000"/>
            <a:ext cx="442368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Заданная линейная и угловая скорости преобразуются в воздействия левого и правого приводов платформы.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Rounded Rectangle 13"/>
          <p:cNvSpPr/>
          <p:nvPr/>
        </p:nvSpPr>
        <p:spPr>
          <a:xfrm>
            <a:off x="777960" y="4140000"/>
            <a:ext cx="4980960" cy="1618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TextBox 14"/>
          <p:cNvSpPr/>
          <p:nvPr/>
        </p:nvSpPr>
        <p:spPr>
          <a:xfrm>
            <a:off x="942480" y="4277880"/>
            <a:ext cx="63756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Box 15"/>
          <p:cNvSpPr/>
          <p:nvPr/>
        </p:nvSpPr>
        <p:spPr>
          <a:xfrm>
            <a:off x="975240" y="4277880"/>
            <a:ext cx="3883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3 Архитектура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16"/>
          <p:cNvSpPr/>
          <p:nvPr/>
        </p:nvSpPr>
        <p:spPr>
          <a:xfrm>
            <a:off x="1155240" y="4683960"/>
            <a:ext cx="4423680" cy="12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Блок управления роботом отделён от аппаратной части и математической модели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Rounded Rectangle 17"/>
          <p:cNvSpPr/>
          <p:nvPr/>
        </p:nvSpPr>
        <p:spPr>
          <a:xfrm>
            <a:off x="6300000" y="4359600"/>
            <a:ext cx="4980960" cy="150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TextBox 18"/>
          <p:cNvSpPr/>
          <p:nvPr/>
        </p:nvSpPr>
        <p:spPr>
          <a:xfrm>
            <a:off x="6464520" y="4320000"/>
            <a:ext cx="63756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Box 19"/>
          <p:cNvSpPr/>
          <p:nvPr/>
        </p:nvSpPr>
        <p:spPr>
          <a:xfrm>
            <a:off x="6480000" y="4457880"/>
            <a:ext cx="3883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4 Проверка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Box 20"/>
          <p:cNvSpPr/>
          <p:nvPr/>
        </p:nvSpPr>
        <p:spPr>
          <a:xfrm>
            <a:off x="6660000" y="4860000"/>
            <a:ext cx="44989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Провести тестирование программы на микроконтроллере stm32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lideNumber_2"/>
          <p:cNvSpPr/>
          <p:nvPr/>
        </p:nvSpPr>
        <p:spPr>
          <a:xfrm>
            <a:off x="1141380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2/17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822960" y="1944720"/>
            <a:ext cx="9538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Задачи: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/mnt/data/extracted_package/ppt/media/image3.png"/>
          <p:cNvPicPr/>
          <p:nvPr/>
        </p:nvPicPr>
        <p:blipFill>
          <a:blip r:embed="rId1"/>
          <a:stretch/>
        </p:blipFill>
        <p:spPr>
          <a:xfrm>
            <a:off x="285840" y="556560"/>
            <a:ext cx="5473080" cy="361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Image 1" descr="/mnt/data/extracted_package/ppt/media/image2.png"/>
          <p:cNvPicPr/>
          <p:nvPr/>
        </p:nvPicPr>
        <p:blipFill>
          <a:blip r:embed="rId2"/>
          <a:stretch/>
        </p:blipFill>
        <p:spPr>
          <a:xfrm>
            <a:off x="6052680" y="559080"/>
            <a:ext cx="5447880" cy="359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Box 13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14"/>
          <p:cNvSpPr/>
          <p:nvPr/>
        </p:nvSpPr>
        <p:spPr>
          <a:xfrm>
            <a:off x="0" y="7920"/>
            <a:ext cx="121910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Описание объекта управления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ectangle 15"/>
          <p:cNvSpPr/>
          <p:nvPr/>
        </p:nvSpPr>
        <p:spPr>
          <a:xfrm>
            <a:off x="457200" y="54000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TextBox 16"/>
          <p:cNvSpPr/>
          <p:nvPr/>
        </p:nvSpPr>
        <p:spPr>
          <a:xfrm>
            <a:off x="540000" y="3798720"/>
            <a:ext cx="5209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Изображение робота сбоку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Box 17"/>
          <p:cNvSpPr/>
          <p:nvPr/>
        </p:nvSpPr>
        <p:spPr>
          <a:xfrm>
            <a:off x="6300000" y="3978000"/>
            <a:ext cx="5209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Изображение робота сверху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Rounded Rectangle 18"/>
          <p:cNvSpPr/>
          <p:nvPr/>
        </p:nvSpPr>
        <p:spPr>
          <a:xfrm>
            <a:off x="685800" y="5139000"/>
            <a:ext cx="5972400" cy="133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TextBox 19"/>
          <p:cNvSpPr/>
          <p:nvPr/>
        </p:nvSpPr>
        <p:spPr>
          <a:xfrm>
            <a:off x="850320" y="5220000"/>
            <a:ext cx="55663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Принцип движения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20"/>
          <p:cNvSpPr/>
          <p:nvPr/>
        </p:nvSpPr>
        <p:spPr>
          <a:xfrm>
            <a:off x="850320" y="5687640"/>
            <a:ext cx="556632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0" rIns="2736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Движение формируют два ведущих колеса; опорные колёса привода не имеют.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ounded Rectangle 21"/>
          <p:cNvSpPr/>
          <p:nvPr/>
        </p:nvSpPr>
        <p:spPr>
          <a:xfrm>
            <a:off x="6858000" y="5139000"/>
            <a:ext cx="4660200" cy="133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TextBox 22"/>
          <p:cNvSpPr/>
          <p:nvPr/>
        </p:nvSpPr>
        <p:spPr>
          <a:xfrm>
            <a:off x="7007040" y="5220000"/>
            <a:ext cx="43318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Параметры модели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3"/>
          <p:cNvSpPr/>
          <p:nvPr/>
        </p:nvSpPr>
        <p:spPr>
          <a:xfrm>
            <a:off x="7022520" y="5687640"/>
            <a:ext cx="433188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0" rIns="2736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   = 0,100 м — ширина колеи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   = 0,025 м — радиус колеса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lideNumber_3"/>
          <p:cNvSpPr/>
          <p:nvPr/>
        </p:nvSpPr>
        <p:spPr>
          <a:xfrm>
            <a:off x="1141380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3/17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022520" y="5687640"/>
            <a:ext cx="173520" cy="3088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6760" tIns="45000" rIns="867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022520" y="5997240"/>
            <a:ext cx="126720" cy="3088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tIns="45000" rIns="633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8640" y="46440"/>
            <a:ext cx="12050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Общий принцип формирования управляющих воздействий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502920" y="530280"/>
            <a:ext cx="1097028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3"/>
          <p:cNvSpPr/>
          <p:nvPr/>
        </p:nvSpPr>
        <p:spPr>
          <a:xfrm>
            <a:off x="540000" y="70308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720000" y="732600"/>
            <a:ext cx="1087884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В одном цикле управления формируются две составляющие воздействия: модельная по заданной команде управления и корректирующая по обратной связи.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" name="Connector 5"/>
          <p:cNvCxnSpPr/>
          <p:nvPr/>
        </p:nvCxnSpPr>
        <p:spPr>
          <a:xfrm>
            <a:off x="2137320" y="2088720"/>
            <a:ext cx="734040" cy="252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cxnSp>
        <p:nvCxnSpPr>
          <p:cNvPr id="71" name="Connector 6"/>
          <p:cNvCxnSpPr/>
          <p:nvPr/>
        </p:nvCxnSpPr>
        <p:spPr>
          <a:xfrm>
            <a:off x="4971960" y="2088720"/>
            <a:ext cx="596880" cy="252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cxnSp>
        <p:nvCxnSpPr>
          <p:cNvPr id="72" name="Connector 7"/>
          <p:cNvCxnSpPr/>
          <p:nvPr/>
        </p:nvCxnSpPr>
        <p:spPr>
          <a:xfrm>
            <a:off x="7669440" y="2088720"/>
            <a:ext cx="734040" cy="64260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cxnSp>
        <p:nvCxnSpPr>
          <p:cNvPr id="73" name="Connector 8"/>
          <p:cNvCxnSpPr/>
          <p:nvPr/>
        </p:nvCxnSpPr>
        <p:spPr>
          <a:xfrm>
            <a:off x="2171520" y="3159360"/>
            <a:ext cx="734040" cy="252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cxnSp>
        <p:nvCxnSpPr>
          <p:cNvPr id="74" name="Connector 9"/>
          <p:cNvCxnSpPr/>
          <p:nvPr/>
        </p:nvCxnSpPr>
        <p:spPr>
          <a:xfrm>
            <a:off x="5006160" y="3159360"/>
            <a:ext cx="596880" cy="252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cxnSp>
        <p:nvCxnSpPr>
          <p:cNvPr id="75" name="Connector 10"/>
          <p:cNvCxnSpPr/>
          <p:nvPr/>
        </p:nvCxnSpPr>
        <p:spPr>
          <a:xfrm flipV="1">
            <a:off x="7522920" y="2993400"/>
            <a:ext cx="892800" cy="31140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cxnSp>
        <p:nvCxnSpPr>
          <p:cNvPr id="76" name="Connector 11"/>
          <p:cNvCxnSpPr/>
          <p:nvPr/>
        </p:nvCxnSpPr>
        <p:spPr>
          <a:xfrm>
            <a:off x="9086760" y="2957400"/>
            <a:ext cx="779760" cy="252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sp>
        <p:nvSpPr>
          <p:cNvPr id="77" name="Rounded Rectangle 12"/>
          <p:cNvSpPr/>
          <p:nvPr/>
        </p:nvSpPr>
        <p:spPr>
          <a:xfrm>
            <a:off x="744480" y="1620000"/>
            <a:ext cx="1414800" cy="104616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Задание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13"/>
          <p:cNvSpPr/>
          <p:nvPr/>
        </p:nvSpPr>
        <p:spPr>
          <a:xfrm>
            <a:off x="2868840" y="1585800"/>
            <a:ext cx="2203560" cy="10033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 anchorCtr="1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Кинематическая модель робота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14"/>
          <p:cNvSpPr/>
          <p:nvPr/>
        </p:nvSpPr>
        <p:spPr>
          <a:xfrm>
            <a:off x="5566320" y="1658880"/>
            <a:ext cx="2100600" cy="86616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Модельная часть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15"/>
          <p:cNvSpPr/>
          <p:nvPr/>
        </p:nvSpPr>
        <p:spPr>
          <a:xfrm>
            <a:off x="754200" y="2729520"/>
            <a:ext cx="1414800" cy="1026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6"/>
          <p:cNvSpPr/>
          <p:nvPr/>
        </p:nvSpPr>
        <p:spPr>
          <a:xfrm>
            <a:off x="2903040" y="2729520"/>
            <a:ext cx="2100600" cy="104976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Ошибки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7"/>
          <p:cNvSpPr/>
          <p:nvPr/>
        </p:nvSpPr>
        <p:spPr>
          <a:xfrm>
            <a:off x="5600520" y="2729520"/>
            <a:ext cx="2100600" cy="10062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ПИД-регуляторы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18"/>
          <p:cNvSpPr/>
          <p:nvPr/>
        </p:nvSpPr>
        <p:spPr>
          <a:xfrm>
            <a:off x="8400960" y="2619000"/>
            <a:ext cx="683280" cy="683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Σ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9"/>
          <p:cNvSpPr/>
          <p:nvPr/>
        </p:nvSpPr>
        <p:spPr>
          <a:xfrm rot="21592200">
            <a:off x="9684720" y="2521080"/>
            <a:ext cx="1115280" cy="7182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0"/>
          <p:cNvSpPr/>
          <p:nvPr/>
        </p:nvSpPr>
        <p:spPr>
          <a:xfrm>
            <a:off x="8460360" y="4500000"/>
            <a:ext cx="521892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1"/>
          <p:cNvSpPr/>
          <p:nvPr/>
        </p:nvSpPr>
        <p:spPr>
          <a:xfrm>
            <a:off x="7560360" y="5580000"/>
            <a:ext cx="55789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lideNumber_4"/>
          <p:cNvSpPr/>
          <p:nvPr/>
        </p:nvSpPr>
        <p:spPr>
          <a:xfrm>
            <a:off x="1141380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4/17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"/>
          <p:cNvSpPr/>
          <p:nvPr/>
        </p:nvSpPr>
        <p:spPr>
          <a:xfrm rot="18600">
            <a:off x="199800" y="4120560"/>
            <a:ext cx="7898400" cy="251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415800" y="4099320"/>
            <a:ext cx="5218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Обозначения: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5451480" y="3102120"/>
            <a:ext cx="1268640" cy="6336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442120" y="3521160"/>
            <a:ext cx="1269000" cy="6339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000080" y="2160000"/>
            <a:ext cx="979200" cy="3499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940000" y="2160000"/>
            <a:ext cx="1481760" cy="3355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600000" y="3240000"/>
            <a:ext cx="590040" cy="33552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5441760" y="3540240"/>
            <a:ext cx="1269000" cy="63396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5830200" y="3260160"/>
            <a:ext cx="1549080" cy="3355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9803880" y="2709360"/>
            <a:ext cx="815400" cy="3499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600360" y="3240000"/>
            <a:ext cx="590040" cy="33552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900000" y="3263760"/>
            <a:ext cx="1237680" cy="33552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848880" y="2729520"/>
            <a:ext cx="126792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Обратная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связь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415800" y="4500000"/>
            <a:ext cx="7533720" cy="203400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ounded Rectangle 39"/>
          <p:cNvSpPr/>
          <p:nvPr/>
        </p:nvSpPr>
        <p:spPr>
          <a:xfrm>
            <a:off x="360000" y="4500000"/>
            <a:ext cx="7379280" cy="197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TextBox 44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45"/>
          <p:cNvSpPr/>
          <p:nvPr/>
        </p:nvSpPr>
        <p:spPr>
          <a:xfrm>
            <a:off x="8640" y="0"/>
            <a:ext cx="12182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Кинематическая модель робота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2"/>
          <p:cNvSpPr/>
          <p:nvPr/>
        </p:nvSpPr>
        <p:spPr>
          <a:xfrm>
            <a:off x="540000" y="54000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Rounded Rectangle 24"/>
          <p:cNvSpPr/>
          <p:nvPr/>
        </p:nvSpPr>
        <p:spPr>
          <a:xfrm>
            <a:off x="406080" y="657000"/>
            <a:ext cx="4093200" cy="962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TextBox 46"/>
          <p:cNvSpPr/>
          <p:nvPr/>
        </p:nvSpPr>
        <p:spPr>
          <a:xfrm>
            <a:off x="540000" y="701280"/>
            <a:ext cx="46033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1. Скорости колёс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47"/>
          <p:cNvSpPr/>
          <p:nvPr/>
        </p:nvSpPr>
        <p:spPr>
          <a:xfrm>
            <a:off x="540000" y="973800"/>
            <a:ext cx="46033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26"/>
          <p:cNvSpPr/>
          <p:nvPr/>
        </p:nvSpPr>
        <p:spPr>
          <a:xfrm>
            <a:off x="360000" y="1800000"/>
            <a:ext cx="4139280" cy="107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TextBox 48"/>
          <p:cNvSpPr/>
          <p:nvPr/>
        </p:nvSpPr>
        <p:spPr>
          <a:xfrm>
            <a:off x="435960" y="1818000"/>
            <a:ext cx="46033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2. Угловые скорости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9"/>
          <p:cNvSpPr/>
          <p:nvPr/>
        </p:nvSpPr>
        <p:spPr>
          <a:xfrm>
            <a:off x="900000" y="4320000"/>
            <a:ext cx="46033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27"/>
          <p:cNvSpPr/>
          <p:nvPr/>
        </p:nvSpPr>
        <p:spPr>
          <a:xfrm>
            <a:off x="360000" y="3203280"/>
            <a:ext cx="4139280" cy="111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TextBox 50"/>
          <p:cNvSpPr/>
          <p:nvPr/>
        </p:nvSpPr>
        <p:spPr>
          <a:xfrm>
            <a:off x="540000" y="3242880"/>
            <a:ext cx="46033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3. Модель привода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51"/>
          <p:cNvSpPr/>
          <p:nvPr/>
        </p:nvSpPr>
        <p:spPr>
          <a:xfrm>
            <a:off x="540000" y="3853080"/>
            <a:ext cx="46033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lideNumber_ 2"/>
          <p:cNvSpPr/>
          <p:nvPr/>
        </p:nvSpPr>
        <p:spPr>
          <a:xfrm>
            <a:off x="1141380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5/17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29"/>
          <p:cNvSpPr/>
          <p:nvPr/>
        </p:nvSpPr>
        <p:spPr>
          <a:xfrm>
            <a:off x="8100000" y="687240"/>
            <a:ext cx="3059280" cy="73008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Заданная команда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30"/>
          <p:cNvSpPr/>
          <p:nvPr/>
        </p:nvSpPr>
        <p:spPr>
          <a:xfrm>
            <a:off x="8100360" y="1980360"/>
            <a:ext cx="3058920" cy="7189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Кинематическая модель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31"/>
          <p:cNvSpPr/>
          <p:nvPr/>
        </p:nvSpPr>
        <p:spPr>
          <a:xfrm>
            <a:off x="8100000" y="3240000"/>
            <a:ext cx="3059280" cy="73008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9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Переход к угловым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9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скоростям</a:t>
            </a: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32"/>
          <p:cNvSpPr/>
          <p:nvPr/>
        </p:nvSpPr>
        <p:spPr>
          <a:xfrm>
            <a:off x="8100360" y="4489200"/>
            <a:ext cx="3058920" cy="73008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540000" y="4500000"/>
            <a:ext cx="17992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1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Обозначения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451480" y="3102120"/>
            <a:ext cx="1268640" cy="1962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5451480" y="3102120"/>
            <a:ext cx="1268640" cy="1962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080000" y="1980360"/>
            <a:ext cx="1269000" cy="6339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5218920" y="3240000"/>
            <a:ext cx="1269000" cy="1965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5703120" y="3016440"/>
            <a:ext cx="1269000" cy="1965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15600" y="973800"/>
            <a:ext cx="1700640" cy="6397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2520000" y="973800"/>
            <a:ext cx="1675800" cy="6397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620000" y="2160000"/>
            <a:ext cx="776880" cy="6397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638280" y="2160000"/>
            <a:ext cx="801000" cy="63972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720000" y="3604680"/>
            <a:ext cx="2756880" cy="35460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20000" y="3964680"/>
            <a:ext cx="2792880" cy="35460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83560" y="4860000"/>
            <a:ext cx="6975720" cy="150948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9180000" y="1058040"/>
            <a:ext cx="892440" cy="31968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9360000" y="2379600"/>
            <a:ext cx="593280" cy="31968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10260000" y="3600000"/>
            <a:ext cx="120240" cy="29556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tIns="45000" rIns="6012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9000000" y="4860000"/>
            <a:ext cx="1398600" cy="319680"/>
          </a:xfrm>
          <a:prstGeom prst="rect">
            <a:avLst/>
          </a:pr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8640000" y="4487760"/>
            <a:ext cx="21592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Модель привода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" name=""/>
          <p:cNvCxnSpPr>
            <a:stCxn id="116" idx="2"/>
            <a:endCxn id="117" idx="0"/>
          </p:cNvCxnSpPr>
          <p:nvPr/>
        </p:nvCxnSpPr>
        <p:spPr>
          <a:xfrm>
            <a:off x="9629640" y="1417320"/>
            <a:ext cx="720" cy="5634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139" name=""/>
          <p:cNvCxnSpPr>
            <a:stCxn id="117" idx="2"/>
            <a:endCxn id="118" idx="0"/>
          </p:cNvCxnSpPr>
          <p:nvPr/>
        </p:nvCxnSpPr>
        <p:spPr>
          <a:xfrm flipH="1">
            <a:off x="9629640" y="2699280"/>
            <a:ext cx="720" cy="54108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140" name=""/>
          <p:cNvCxnSpPr>
            <a:stCxn id="118" idx="2"/>
            <a:endCxn id="119" idx="0"/>
          </p:cNvCxnSpPr>
          <p:nvPr/>
        </p:nvCxnSpPr>
        <p:spPr>
          <a:xfrm>
            <a:off x="9629640" y="3970080"/>
            <a:ext cx="720" cy="51948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25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8"/>
          <p:cNvSpPr/>
          <p:nvPr/>
        </p:nvSpPr>
        <p:spPr>
          <a:xfrm>
            <a:off x="8640" y="0"/>
            <a:ext cx="12182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Коррекция по обратной связи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"/>
          <p:cNvSpPr/>
          <p:nvPr/>
        </p:nvSpPr>
        <p:spPr>
          <a:xfrm>
            <a:off x="540000" y="54000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Rounded Rectangle 11"/>
          <p:cNvSpPr/>
          <p:nvPr/>
        </p:nvSpPr>
        <p:spPr>
          <a:xfrm>
            <a:off x="323640" y="720000"/>
            <a:ext cx="5255280" cy="125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TextBox 37"/>
          <p:cNvSpPr/>
          <p:nvPr/>
        </p:nvSpPr>
        <p:spPr>
          <a:xfrm>
            <a:off x="488160" y="780480"/>
            <a:ext cx="49262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1. Ошибки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8"/>
          <p:cNvSpPr/>
          <p:nvPr/>
        </p:nvSpPr>
        <p:spPr>
          <a:xfrm>
            <a:off x="488160" y="1287000"/>
            <a:ext cx="492624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20"/>
          <p:cNvSpPr/>
          <p:nvPr/>
        </p:nvSpPr>
        <p:spPr>
          <a:xfrm>
            <a:off x="324000" y="2157120"/>
            <a:ext cx="5255280" cy="144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TextBox 39"/>
          <p:cNvSpPr/>
          <p:nvPr/>
        </p:nvSpPr>
        <p:spPr>
          <a:xfrm>
            <a:off x="488520" y="2182680"/>
            <a:ext cx="49262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2. ПИД-коррекция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40"/>
          <p:cNvSpPr/>
          <p:nvPr/>
        </p:nvSpPr>
        <p:spPr>
          <a:xfrm>
            <a:off x="488520" y="2603520"/>
            <a:ext cx="492624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23"/>
          <p:cNvSpPr/>
          <p:nvPr/>
        </p:nvSpPr>
        <p:spPr>
          <a:xfrm>
            <a:off x="324000" y="3743280"/>
            <a:ext cx="5255280" cy="111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TextBox 41"/>
          <p:cNvSpPr/>
          <p:nvPr/>
        </p:nvSpPr>
        <p:spPr>
          <a:xfrm>
            <a:off x="473040" y="3767760"/>
            <a:ext cx="49262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3. Итоговые напряжения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42"/>
          <p:cNvSpPr/>
          <p:nvPr/>
        </p:nvSpPr>
        <p:spPr>
          <a:xfrm>
            <a:off x="488160" y="3761640"/>
            <a:ext cx="492624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43"/>
          <p:cNvSpPr/>
          <p:nvPr/>
        </p:nvSpPr>
        <p:spPr>
          <a:xfrm>
            <a:off x="777240" y="5760720"/>
            <a:ext cx="10604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lideNumber_ 1"/>
          <p:cNvSpPr/>
          <p:nvPr/>
        </p:nvSpPr>
        <p:spPr>
          <a:xfrm>
            <a:off x="1141380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5/17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34"/>
          <p:cNvSpPr/>
          <p:nvPr/>
        </p:nvSpPr>
        <p:spPr>
          <a:xfrm>
            <a:off x="7468920" y="720000"/>
            <a:ext cx="2970360" cy="65700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Заданные скорости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35"/>
          <p:cNvSpPr/>
          <p:nvPr/>
        </p:nvSpPr>
        <p:spPr>
          <a:xfrm>
            <a:off x="7468920" y="1502280"/>
            <a:ext cx="2970360" cy="65700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Фактические скорости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36"/>
          <p:cNvSpPr/>
          <p:nvPr/>
        </p:nvSpPr>
        <p:spPr>
          <a:xfrm>
            <a:off x="7468920" y="2340000"/>
            <a:ext cx="2970360" cy="65700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Ошибки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37"/>
          <p:cNvSpPr/>
          <p:nvPr/>
        </p:nvSpPr>
        <p:spPr>
          <a:xfrm>
            <a:off x="7468920" y="3122280"/>
            <a:ext cx="2970360" cy="65700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ПИД-регуляторы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38"/>
          <p:cNvSpPr/>
          <p:nvPr/>
        </p:nvSpPr>
        <p:spPr>
          <a:xfrm>
            <a:off x="7468920" y="3960000"/>
            <a:ext cx="2970360" cy="65700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Сумматор с Uмод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40"/>
          <p:cNvSpPr/>
          <p:nvPr/>
        </p:nvSpPr>
        <p:spPr>
          <a:xfrm>
            <a:off x="360000" y="5031000"/>
            <a:ext cx="8819280" cy="1618920"/>
          </a:xfrm>
          <a:prstGeom prst="roundRect">
            <a:avLst>
              <a:gd name="adj" fmla="val 17133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405000" y="4976640"/>
            <a:ext cx="17542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1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Обозначения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5703120" y="3016440"/>
            <a:ext cx="1269000" cy="633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5750280" y="2785320"/>
            <a:ext cx="1269000" cy="6339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488160" y="1152720"/>
            <a:ext cx="2634840" cy="3571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488160" y="1576080"/>
            <a:ext cx="2779560" cy="3571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8473680" y="1040400"/>
            <a:ext cx="892440" cy="3196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720360" y="2498760"/>
            <a:ext cx="3579120" cy="5734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729360" y="3025800"/>
            <a:ext cx="3770280" cy="5734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720000" y="4109760"/>
            <a:ext cx="2159280" cy="6523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405000" y="5387040"/>
            <a:ext cx="8661600" cy="114012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8359920" y="1800000"/>
            <a:ext cx="1179360" cy="31968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8640000" y="2677320"/>
            <a:ext cx="563400" cy="31968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8280000" y="3420000"/>
            <a:ext cx="1481760" cy="31968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8460000" y="4297320"/>
            <a:ext cx="744480" cy="31968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5" name=""/>
          <p:cNvCxnSpPr>
            <a:stCxn id="155" idx="2"/>
            <a:endCxn id="156" idx="0"/>
          </p:cNvCxnSpPr>
          <p:nvPr/>
        </p:nvCxnSpPr>
        <p:spPr>
          <a:xfrm>
            <a:off x="8954280" y="1377000"/>
            <a:ext cx="360" cy="12564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176" name=""/>
          <p:cNvCxnSpPr>
            <a:stCxn id="157" idx="2"/>
            <a:endCxn id="158" idx="0"/>
          </p:cNvCxnSpPr>
          <p:nvPr/>
        </p:nvCxnSpPr>
        <p:spPr>
          <a:xfrm>
            <a:off x="8954280" y="2997000"/>
            <a:ext cx="360" cy="12564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177" name=""/>
          <p:cNvCxnSpPr>
            <a:stCxn id="158" idx="2"/>
            <a:endCxn id="159" idx="0"/>
          </p:cNvCxnSpPr>
          <p:nvPr/>
        </p:nvCxnSpPr>
        <p:spPr>
          <a:xfrm>
            <a:off x="8954280" y="3779280"/>
            <a:ext cx="360" cy="18108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178" name=""/>
          <p:cNvCxnSpPr>
            <a:stCxn id="156" idx="2"/>
            <a:endCxn id="157" idx="0"/>
          </p:cNvCxnSpPr>
          <p:nvPr/>
        </p:nvCxnSpPr>
        <p:spPr>
          <a:xfrm>
            <a:off x="8954280" y="2159280"/>
            <a:ext cx="360" cy="18108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19"/>
          <p:cNvSpPr/>
          <p:nvPr/>
        </p:nvSpPr>
        <p:spPr>
          <a:xfrm>
            <a:off x="502920" y="182880"/>
            <a:ext cx="1097028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0"/>
          <p:cNvSpPr/>
          <p:nvPr/>
        </p:nvSpPr>
        <p:spPr>
          <a:xfrm>
            <a:off x="9000" y="0"/>
            <a:ext cx="12182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Архитектура программы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21"/>
          <p:cNvSpPr/>
          <p:nvPr/>
        </p:nvSpPr>
        <p:spPr>
          <a:xfrm>
            <a:off x="720000" y="54000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Rounded Rectangle 22"/>
          <p:cNvSpPr/>
          <p:nvPr/>
        </p:nvSpPr>
        <p:spPr>
          <a:xfrm>
            <a:off x="325800" y="787320"/>
            <a:ext cx="4353480" cy="1731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TextBox 23"/>
          <p:cNvSpPr/>
          <p:nvPr/>
        </p:nvSpPr>
        <p:spPr>
          <a:xfrm>
            <a:off x="404640" y="787320"/>
            <a:ext cx="42746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Основной принцип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4"/>
          <p:cNvSpPr/>
          <p:nvPr/>
        </p:nvSpPr>
        <p:spPr>
          <a:xfrm>
            <a:off x="404640" y="1159560"/>
            <a:ext cx="4274640" cy="12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Подсистема организации управления отделена от подсистемы реализации закона управления и подсистемы аппаратной абстракции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25"/>
          <p:cNvSpPr/>
          <p:nvPr/>
        </p:nvSpPr>
        <p:spPr>
          <a:xfrm>
            <a:off x="360000" y="2701080"/>
            <a:ext cx="4353480" cy="161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TextBox 26"/>
          <p:cNvSpPr/>
          <p:nvPr/>
        </p:nvSpPr>
        <p:spPr>
          <a:xfrm>
            <a:off x="540000" y="2700000"/>
            <a:ext cx="43192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Подсистема реализации закона управления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7"/>
          <p:cNvSpPr/>
          <p:nvPr/>
        </p:nvSpPr>
        <p:spPr>
          <a:xfrm>
            <a:off x="540000" y="3346920"/>
            <a:ext cx="417348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Позволяет уточнять математическую модель независимо от остальных подсистем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28"/>
          <p:cNvSpPr/>
          <p:nvPr/>
        </p:nvSpPr>
        <p:spPr>
          <a:xfrm>
            <a:off x="360000" y="4500000"/>
            <a:ext cx="4319280" cy="143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TextBox 29"/>
          <p:cNvSpPr/>
          <p:nvPr/>
        </p:nvSpPr>
        <p:spPr>
          <a:xfrm>
            <a:off x="440280" y="4500000"/>
            <a:ext cx="38790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Аппаратная абстракция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30"/>
          <p:cNvSpPr/>
          <p:nvPr/>
        </p:nvSpPr>
        <p:spPr>
          <a:xfrm>
            <a:off x="440280" y="4878000"/>
            <a:ext cx="423900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Позволяет адаптировать программу под аппаратную платформу независимо от остальных подсистем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lideNumber_7"/>
          <p:cNvSpPr/>
          <p:nvPr/>
        </p:nvSpPr>
        <p:spPr>
          <a:xfrm>
            <a:off x="1141380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7/17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"/>
          <p:cNvPicPr/>
          <p:nvPr/>
        </p:nvPicPr>
        <p:blipFill>
          <a:blip r:embed="rId1"/>
          <a:stretch/>
        </p:blipFill>
        <p:spPr>
          <a:xfrm>
            <a:off x="5294160" y="604440"/>
            <a:ext cx="6119280" cy="611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0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1"/>
          <p:cNvSpPr/>
          <p:nvPr/>
        </p:nvSpPr>
        <p:spPr>
          <a:xfrm>
            <a:off x="0" y="0"/>
            <a:ext cx="121910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Шаг алгоритма управления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12"/>
          <p:cNvSpPr/>
          <p:nvPr/>
        </p:nvSpPr>
        <p:spPr>
          <a:xfrm>
            <a:off x="540000" y="54000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Rounded Rectangle 13"/>
          <p:cNvSpPr/>
          <p:nvPr/>
        </p:nvSpPr>
        <p:spPr>
          <a:xfrm>
            <a:off x="505800" y="652680"/>
            <a:ext cx="4353120" cy="474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TextBox 14"/>
          <p:cNvSpPr/>
          <p:nvPr/>
        </p:nvSpPr>
        <p:spPr>
          <a:xfrm>
            <a:off x="801360" y="804600"/>
            <a:ext cx="405756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Содержание одного шага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5"/>
          <p:cNvSpPr/>
          <p:nvPr/>
        </p:nvSpPr>
        <p:spPr>
          <a:xfrm>
            <a:off x="670320" y="1242000"/>
            <a:ext cx="4057560" cy="40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 данным энкодеров определяется фактический скоростной профиль платформы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На основе команды движения и фактического скоростного профиля формируются управляющие воздействия на моторы.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Сформированные управляющие воздействия передаются на левый и правый моторы платформы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6"/>
          <p:cNvSpPr/>
          <p:nvPr/>
        </p:nvSpPr>
        <p:spPr>
          <a:xfrm>
            <a:off x="655200" y="5481000"/>
            <a:ext cx="51037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lideNumber_8"/>
          <p:cNvSpPr/>
          <p:nvPr/>
        </p:nvSpPr>
        <p:spPr>
          <a:xfrm>
            <a:off x="1141380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8/17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"/>
          <p:cNvPicPr/>
          <p:nvPr/>
        </p:nvPicPr>
        <p:blipFill>
          <a:blip r:embed="rId1"/>
          <a:stretch/>
        </p:blipFill>
        <p:spPr>
          <a:xfrm>
            <a:off x="5040000" y="885600"/>
            <a:ext cx="6978600" cy="523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Box 10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1"/>
          <p:cNvSpPr/>
          <p:nvPr/>
        </p:nvSpPr>
        <p:spPr>
          <a:xfrm>
            <a:off x="548640" y="46440"/>
            <a:ext cx="10970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Интеграция с симулятором Webots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12"/>
          <p:cNvSpPr/>
          <p:nvPr/>
        </p:nvSpPr>
        <p:spPr>
          <a:xfrm>
            <a:off x="540000" y="54000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Rounded Rectangle 13"/>
          <p:cNvSpPr/>
          <p:nvPr/>
        </p:nvSpPr>
        <p:spPr>
          <a:xfrm>
            <a:off x="720000" y="2700000"/>
            <a:ext cx="4532040" cy="125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TextBox 14"/>
          <p:cNvSpPr/>
          <p:nvPr/>
        </p:nvSpPr>
        <p:spPr>
          <a:xfrm>
            <a:off x="884520" y="2732040"/>
            <a:ext cx="41947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Заменяется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5"/>
          <p:cNvSpPr/>
          <p:nvPr/>
        </p:nvSpPr>
        <p:spPr>
          <a:xfrm>
            <a:off x="884520" y="3152880"/>
            <a:ext cx="4194720" cy="12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Реализации интерфейсов аппаратной абстракции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16"/>
          <p:cNvSpPr/>
          <p:nvPr/>
        </p:nvSpPr>
        <p:spPr>
          <a:xfrm>
            <a:off x="695520" y="930240"/>
            <a:ext cx="4523760" cy="1589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TextBox 17"/>
          <p:cNvSpPr/>
          <p:nvPr/>
        </p:nvSpPr>
        <p:spPr>
          <a:xfrm>
            <a:off x="860040" y="893880"/>
            <a:ext cx="41947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Неизменно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8"/>
          <p:cNvSpPr/>
          <p:nvPr/>
        </p:nvSpPr>
        <p:spPr>
          <a:xfrm>
            <a:off x="860040" y="1260000"/>
            <a:ext cx="4194720" cy="12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Подсистема организации </a:t>
            </a: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управления.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Подсистема реализации закона </a:t>
            </a: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управления.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19"/>
          <p:cNvSpPr/>
          <p:nvPr/>
        </p:nvSpPr>
        <p:spPr>
          <a:xfrm>
            <a:off x="720000" y="5040000"/>
            <a:ext cx="4525200" cy="143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TextBox 20"/>
          <p:cNvSpPr/>
          <p:nvPr/>
        </p:nvSpPr>
        <p:spPr>
          <a:xfrm>
            <a:off x="876240" y="5086440"/>
            <a:ext cx="41947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Назначение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1"/>
          <p:cNvSpPr/>
          <p:nvPr/>
        </p:nvSpPr>
        <p:spPr>
          <a:xfrm>
            <a:off x="876240" y="5458680"/>
            <a:ext cx="419472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Проверка программы управления до переноса на микроконтроллер STM32.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lideNumber_9"/>
          <p:cNvSpPr/>
          <p:nvPr/>
        </p:nvSpPr>
        <p:spPr>
          <a:xfrm>
            <a:off x="1141380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9/17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"/>
          <p:cNvPicPr/>
          <p:nvPr/>
        </p:nvPicPr>
        <p:blipFill>
          <a:blip r:embed="rId1"/>
          <a:stretch/>
        </p:blipFill>
        <p:spPr>
          <a:xfrm>
            <a:off x="6480000" y="720000"/>
            <a:ext cx="4883400" cy="610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Image 0" descr="/mnt/data/extracted_package/ppt/media/image11.png"/>
          <p:cNvPicPr/>
          <p:nvPr/>
        </p:nvPicPr>
        <p:blipFill>
          <a:blip r:embed="rId1"/>
          <a:stretch/>
        </p:blipFill>
        <p:spPr>
          <a:xfrm>
            <a:off x="180000" y="720000"/>
            <a:ext cx="5474880" cy="419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40000" y="720000"/>
            <a:ext cx="6046560" cy="3419280"/>
          </a:xfrm>
          <a:prstGeom prst="rect">
            <a:avLst/>
          </a:prstGeom>
          <a:ln w="0">
            <a:noFill/>
          </a:ln>
        </p:spPr>
      </p:pic>
      <p:sp>
        <p:nvSpPr>
          <p:cNvPr id="218" name="TextBox 10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1"/>
          <p:cNvSpPr/>
          <p:nvPr/>
        </p:nvSpPr>
        <p:spPr>
          <a:xfrm>
            <a:off x="0" y="7920"/>
            <a:ext cx="121910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Webots: движение по прямой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12"/>
          <p:cNvSpPr/>
          <p:nvPr/>
        </p:nvSpPr>
        <p:spPr>
          <a:xfrm>
            <a:off x="540000" y="54000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TextBox 13"/>
          <p:cNvSpPr/>
          <p:nvPr/>
        </p:nvSpPr>
        <p:spPr>
          <a:xfrm>
            <a:off x="685800" y="5532120"/>
            <a:ext cx="539244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14"/>
          <p:cNvSpPr/>
          <p:nvPr/>
        </p:nvSpPr>
        <p:spPr>
          <a:xfrm>
            <a:off x="6480000" y="4680000"/>
            <a:ext cx="5026680" cy="159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TextBox 15"/>
          <p:cNvSpPr/>
          <p:nvPr/>
        </p:nvSpPr>
        <p:spPr>
          <a:xfrm>
            <a:off x="6629400" y="4748040"/>
            <a:ext cx="469764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Задание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6"/>
          <p:cNvSpPr/>
          <p:nvPr/>
        </p:nvSpPr>
        <p:spPr>
          <a:xfrm>
            <a:off x="540000" y="5532120"/>
            <a:ext cx="468216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lideNumber_10"/>
          <p:cNvSpPr/>
          <p:nvPr/>
        </p:nvSpPr>
        <p:spPr>
          <a:xfrm>
            <a:off x="11286720" y="6419160"/>
            <a:ext cx="57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10/17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5488200" y="3125880"/>
            <a:ext cx="1267560" cy="63252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5488200" y="3125880"/>
            <a:ext cx="1267560" cy="63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1800000" y="4860000"/>
            <a:ext cx="2616480" cy="3571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6625800" y="5220000"/>
            <a:ext cx="1473480" cy="66240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8466480" y="5220000"/>
            <a:ext cx="1792800" cy="76860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35"/>
          <p:cNvSpPr/>
          <p:nvPr/>
        </p:nvSpPr>
        <p:spPr>
          <a:xfrm>
            <a:off x="8460000" y="4748040"/>
            <a:ext cx="12592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Метрики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Image 0" descr="/mnt/data/extracted_package/ppt/media/image14.png"/>
          <p:cNvPicPr/>
          <p:nvPr/>
        </p:nvPicPr>
        <p:blipFill>
          <a:blip r:embed="rId1"/>
          <a:stretch/>
        </p:blipFill>
        <p:spPr>
          <a:xfrm>
            <a:off x="464040" y="720000"/>
            <a:ext cx="5474880" cy="419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39640" y="720000"/>
            <a:ext cx="6077520" cy="3436920"/>
          </a:xfrm>
          <a:prstGeom prst="rect">
            <a:avLst/>
          </a:prstGeom>
          <a:ln w="0">
            <a:noFill/>
          </a:ln>
        </p:spPr>
      </p:pic>
      <p:sp>
        <p:nvSpPr>
          <p:cNvPr id="234" name="TextBox 10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1"/>
          <p:cNvSpPr/>
          <p:nvPr/>
        </p:nvSpPr>
        <p:spPr>
          <a:xfrm>
            <a:off x="8640" y="7920"/>
            <a:ext cx="12182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Webots: поворот на месте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12"/>
          <p:cNvSpPr/>
          <p:nvPr/>
        </p:nvSpPr>
        <p:spPr>
          <a:xfrm>
            <a:off x="540000" y="52308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TextBox 13"/>
          <p:cNvSpPr/>
          <p:nvPr/>
        </p:nvSpPr>
        <p:spPr>
          <a:xfrm>
            <a:off x="900000" y="4915800"/>
            <a:ext cx="539244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14"/>
          <p:cNvSpPr/>
          <p:nvPr/>
        </p:nvSpPr>
        <p:spPr>
          <a:xfrm>
            <a:off x="6660000" y="4320000"/>
            <a:ext cx="5026680" cy="179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TextBox 15"/>
          <p:cNvSpPr/>
          <p:nvPr/>
        </p:nvSpPr>
        <p:spPr>
          <a:xfrm>
            <a:off x="6821640" y="4500000"/>
            <a:ext cx="109764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Задание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6"/>
          <p:cNvSpPr/>
          <p:nvPr/>
        </p:nvSpPr>
        <p:spPr>
          <a:xfrm>
            <a:off x="739080" y="5580000"/>
            <a:ext cx="469764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lideNumber_11"/>
          <p:cNvSpPr/>
          <p:nvPr/>
        </p:nvSpPr>
        <p:spPr>
          <a:xfrm>
            <a:off x="11296080" y="6419160"/>
            <a:ext cx="570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11/17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2160000" y="4862160"/>
            <a:ext cx="2779560" cy="35712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6840000" y="5040000"/>
            <a:ext cx="1465920" cy="6624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34"/>
          <p:cNvSpPr/>
          <p:nvPr/>
        </p:nvSpPr>
        <p:spPr>
          <a:xfrm>
            <a:off x="8820000" y="4500000"/>
            <a:ext cx="12592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Метрики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8832240" y="5052600"/>
            <a:ext cx="2033640" cy="76860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0000" y="900000"/>
            <a:ext cx="7721640" cy="4538520"/>
          </a:xfrm>
          <a:prstGeom prst="rect">
            <a:avLst/>
          </a:prstGeom>
          <a:ln w="0">
            <a:noFill/>
          </a:ln>
        </p:spPr>
      </p:pic>
      <p:sp>
        <p:nvSpPr>
          <p:cNvPr id="247" name="TextBox 3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4"/>
          <p:cNvSpPr/>
          <p:nvPr/>
        </p:nvSpPr>
        <p:spPr>
          <a:xfrm>
            <a:off x="0" y="0"/>
            <a:ext cx="121910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Webots: траектория «квадрат»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5"/>
          <p:cNvSpPr/>
          <p:nvPr/>
        </p:nvSpPr>
        <p:spPr>
          <a:xfrm>
            <a:off x="457200" y="54000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Rounded Rectangle 6"/>
          <p:cNvSpPr/>
          <p:nvPr/>
        </p:nvSpPr>
        <p:spPr>
          <a:xfrm rot="32400">
            <a:off x="7898040" y="871920"/>
            <a:ext cx="4139280" cy="452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TextBox 7"/>
          <p:cNvSpPr/>
          <p:nvPr/>
        </p:nvSpPr>
        <p:spPr>
          <a:xfrm>
            <a:off x="8280000" y="1001520"/>
            <a:ext cx="27316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8"/>
          <p:cNvSpPr/>
          <p:nvPr/>
        </p:nvSpPr>
        <p:spPr>
          <a:xfrm>
            <a:off x="8624520" y="1422360"/>
            <a:ext cx="2731680" cy="15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9"/>
          <p:cNvSpPr/>
          <p:nvPr/>
        </p:nvSpPr>
        <p:spPr>
          <a:xfrm>
            <a:off x="777240" y="5623560"/>
            <a:ext cx="1074168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lideNumber_12"/>
          <p:cNvSpPr/>
          <p:nvPr/>
        </p:nvSpPr>
        <p:spPr>
          <a:xfrm>
            <a:off x="11286720" y="6419160"/>
            <a:ext cx="57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12/17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8145720" y="1333800"/>
            <a:ext cx="1393560" cy="10054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8159040" y="3049200"/>
            <a:ext cx="1489320" cy="10054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8099640" y="961920"/>
            <a:ext cx="3959280" cy="10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Задание, 1 метр вперёд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8054640" y="2700000"/>
            <a:ext cx="400464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Задание, поворот на 90 градусов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8159040" y="4320000"/>
            <a:ext cx="33602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ounded Rectangle 7"/>
          <p:cNvSpPr/>
          <p:nvPr/>
        </p:nvSpPr>
        <p:spPr>
          <a:xfrm>
            <a:off x="7920000" y="5580000"/>
            <a:ext cx="2339280" cy="125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Rounded Rectangle 3"/>
          <p:cNvSpPr/>
          <p:nvPr/>
        </p:nvSpPr>
        <p:spPr>
          <a:xfrm>
            <a:off x="178560" y="5760000"/>
            <a:ext cx="7560720" cy="94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pic>
        <p:nvPicPr>
          <p:cNvPr id="262" name="Image 0" descr="/mnt/data/extracted_package/ppt/media/image17.png"/>
          <p:cNvPicPr/>
          <p:nvPr/>
        </p:nvPicPr>
        <p:blipFill>
          <a:blip r:embed="rId1"/>
          <a:stretch/>
        </p:blipFill>
        <p:spPr>
          <a:xfrm>
            <a:off x="360000" y="720000"/>
            <a:ext cx="5578920" cy="435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Image 1" descr="/mnt/data/extracted_package/ppt/media/image18.png"/>
          <p:cNvPicPr/>
          <p:nvPr/>
        </p:nvPicPr>
        <p:blipFill>
          <a:blip r:embed="rId2"/>
          <a:stretch/>
        </p:blipFill>
        <p:spPr>
          <a:xfrm>
            <a:off x="6378480" y="621360"/>
            <a:ext cx="5662080" cy="441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Box 13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4"/>
          <p:cNvSpPr/>
          <p:nvPr/>
        </p:nvSpPr>
        <p:spPr>
          <a:xfrm>
            <a:off x="0" y="0"/>
            <a:ext cx="121910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Webots: ошибки на траектории «квадрат»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15"/>
          <p:cNvSpPr/>
          <p:nvPr/>
        </p:nvSpPr>
        <p:spPr>
          <a:xfrm>
            <a:off x="540000" y="54000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TextBox 16"/>
          <p:cNvSpPr/>
          <p:nvPr/>
        </p:nvSpPr>
        <p:spPr>
          <a:xfrm>
            <a:off x="900000" y="5040000"/>
            <a:ext cx="5209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7"/>
          <p:cNvSpPr/>
          <p:nvPr/>
        </p:nvSpPr>
        <p:spPr>
          <a:xfrm>
            <a:off x="6831000" y="5040000"/>
            <a:ext cx="5209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8"/>
          <p:cNvSpPr/>
          <p:nvPr/>
        </p:nvSpPr>
        <p:spPr>
          <a:xfrm>
            <a:off x="237240" y="5897880"/>
            <a:ext cx="750204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Пики ошибок возникают при переключении режимов.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Между переключениями ошибки возвращаются к малым значениям.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lideNumber_13"/>
          <p:cNvSpPr/>
          <p:nvPr/>
        </p:nvSpPr>
        <p:spPr>
          <a:xfrm>
            <a:off x="11286720" y="6419160"/>
            <a:ext cx="57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13/17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1882800" y="5040000"/>
            <a:ext cx="2616480" cy="3571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8199720" y="5024160"/>
            <a:ext cx="2779560" cy="3571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8015760" y="5925600"/>
            <a:ext cx="2243520" cy="7336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36"/>
          <p:cNvSpPr/>
          <p:nvPr/>
        </p:nvSpPr>
        <p:spPr>
          <a:xfrm>
            <a:off x="2217240" y="4735080"/>
            <a:ext cx="750204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8015760" y="5580000"/>
            <a:ext cx="13410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Метрики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Image 0" descr="/mnt/data/extracted_package/ppt/media/image19.jpeg"/>
          <p:cNvPicPr/>
          <p:nvPr/>
        </p:nvPicPr>
        <p:blipFill>
          <a:blip r:embed="rId1"/>
          <a:stretch/>
        </p:blipFill>
        <p:spPr>
          <a:xfrm>
            <a:off x="540000" y="720000"/>
            <a:ext cx="5219280" cy="40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Box 13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4"/>
          <p:cNvSpPr/>
          <p:nvPr/>
        </p:nvSpPr>
        <p:spPr>
          <a:xfrm>
            <a:off x="0" y="0"/>
            <a:ext cx="121910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Тестирование на микроконтроллере STM32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15"/>
          <p:cNvSpPr/>
          <p:nvPr/>
        </p:nvSpPr>
        <p:spPr>
          <a:xfrm>
            <a:off x="540000" y="54000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TextBox 16"/>
          <p:cNvSpPr/>
          <p:nvPr/>
        </p:nvSpPr>
        <p:spPr>
          <a:xfrm>
            <a:off x="458280" y="4738680"/>
            <a:ext cx="53010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Тестовый стенд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7"/>
          <p:cNvSpPr/>
          <p:nvPr/>
        </p:nvSpPr>
        <p:spPr>
          <a:xfrm>
            <a:off x="-2863080" y="4680000"/>
            <a:ext cx="1042164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lideNumber_14"/>
          <p:cNvSpPr/>
          <p:nvPr/>
        </p:nvSpPr>
        <p:spPr>
          <a:xfrm>
            <a:off x="11286720" y="6419160"/>
            <a:ext cx="57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14/17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31"/>
          <p:cNvSpPr/>
          <p:nvPr/>
        </p:nvSpPr>
        <p:spPr>
          <a:xfrm>
            <a:off x="484560" y="5207760"/>
            <a:ext cx="41947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2"/>
          <p:cNvSpPr/>
          <p:nvPr/>
        </p:nvSpPr>
        <p:spPr>
          <a:xfrm>
            <a:off x="360000" y="5400000"/>
            <a:ext cx="4532040" cy="125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TextBox 32"/>
          <p:cNvSpPr/>
          <p:nvPr/>
        </p:nvSpPr>
        <p:spPr>
          <a:xfrm>
            <a:off x="484560" y="5400000"/>
            <a:ext cx="41947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Заменяется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33"/>
          <p:cNvSpPr/>
          <p:nvPr/>
        </p:nvSpPr>
        <p:spPr>
          <a:xfrm>
            <a:off x="484560" y="5763960"/>
            <a:ext cx="4194720" cy="12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Реализации интерфейсов аппаратной абстракции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7" name=""/>
          <p:cNvPicPr/>
          <p:nvPr/>
        </p:nvPicPr>
        <p:blipFill>
          <a:blip r:embed="rId2"/>
          <a:stretch/>
        </p:blipFill>
        <p:spPr>
          <a:xfrm>
            <a:off x="6300000" y="586800"/>
            <a:ext cx="4859280" cy="607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ounded Rectangle 4"/>
          <p:cNvSpPr/>
          <p:nvPr/>
        </p:nvSpPr>
        <p:spPr>
          <a:xfrm>
            <a:off x="360000" y="5760360"/>
            <a:ext cx="7739280" cy="94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pic>
        <p:nvPicPr>
          <p:cNvPr id="289" name="Image 0" descr="/mnt/data/extracted_package/ppt/media/image21.png"/>
          <p:cNvPicPr/>
          <p:nvPr/>
        </p:nvPicPr>
        <p:blipFill>
          <a:blip r:embed="rId1"/>
          <a:stretch/>
        </p:blipFill>
        <p:spPr>
          <a:xfrm>
            <a:off x="558360" y="900000"/>
            <a:ext cx="5402520" cy="413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Image 1" descr="/mnt/data/extracted_package/ppt/media/image22.png"/>
          <p:cNvPicPr/>
          <p:nvPr/>
        </p:nvPicPr>
        <p:blipFill>
          <a:blip r:embed="rId2"/>
          <a:stretch/>
        </p:blipFill>
        <p:spPr>
          <a:xfrm>
            <a:off x="6443280" y="874800"/>
            <a:ext cx="5435640" cy="416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TextBox 13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14"/>
          <p:cNvSpPr/>
          <p:nvPr/>
        </p:nvSpPr>
        <p:spPr>
          <a:xfrm>
            <a:off x="548640" y="46440"/>
            <a:ext cx="10970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Результаты тестирования на микроконтроллере STM32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15"/>
          <p:cNvSpPr/>
          <p:nvPr/>
        </p:nvSpPr>
        <p:spPr>
          <a:xfrm>
            <a:off x="540000" y="70308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TextBox 16"/>
          <p:cNvSpPr/>
          <p:nvPr/>
        </p:nvSpPr>
        <p:spPr>
          <a:xfrm>
            <a:off x="1080000" y="5007960"/>
            <a:ext cx="5209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7"/>
          <p:cNvSpPr/>
          <p:nvPr/>
        </p:nvSpPr>
        <p:spPr>
          <a:xfrm>
            <a:off x="6840000" y="5058720"/>
            <a:ext cx="5209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lideNumber_15"/>
          <p:cNvSpPr/>
          <p:nvPr/>
        </p:nvSpPr>
        <p:spPr>
          <a:xfrm>
            <a:off x="11286720" y="6419160"/>
            <a:ext cx="57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15/17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433800" y="5902200"/>
            <a:ext cx="114714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Пики ошибок возникают при переключении режимов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Между переключениями ошибки возвращаются к малым значениям.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5439960" y="2899800"/>
            <a:ext cx="1269000" cy="6339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5451480" y="2378160"/>
            <a:ext cx="1269000" cy="6339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2242800" y="4979520"/>
            <a:ext cx="2616480" cy="35712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7920000" y="5039640"/>
            <a:ext cx="2779560" cy="3571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Box 1"/>
          <p:cNvSpPr/>
          <p:nvPr/>
        </p:nvSpPr>
        <p:spPr>
          <a:xfrm>
            <a:off x="502920" y="182880"/>
            <a:ext cx="1097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2"/>
          <p:cNvSpPr/>
          <p:nvPr/>
        </p:nvSpPr>
        <p:spPr>
          <a:xfrm>
            <a:off x="0" y="46440"/>
            <a:ext cx="121910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Результаты работы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ectangle 3"/>
          <p:cNvSpPr/>
          <p:nvPr/>
        </p:nvSpPr>
        <p:spPr>
          <a:xfrm>
            <a:off x="540000" y="540000"/>
            <a:ext cx="11061720" cy="1584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TextBox 4"/>
          <p:cNvSpPr/>
          <p:nvPr/>
        </p:nvSpPr>
        <p:spPr>
          <a:xfrm>
            <a:off x="17280" y="4457880"/>
            <a:ext cx="5216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5"/>
          <p:cNvSpPr/>
          <p:nvPr/>
        </p:nvSpPr>
        <p:spPr>
          <a:xfrm>
            <a:off x="540000" y="4614480"/>
            <a:ext cx="9781560" cy="70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6"/>
          <p:cNvSpPr/>
          <p:nvPr/>
        </p:nvSpPr>
        <p:spPr>
          <a:xfrm>
            <a:off x="690120" y="3091680"/>
            <a:ext cx="978156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7"/>
          <p:cNvSpPr/>
          <p:nvPr/>
        </p:nvSpPr>
        <p:spPr>
          <a:xfrm>
            <a:off x="38520" y="4860000"/>
            <a:ext cx="50040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8"/>
          <p:cNvSpPr/>
          <p:nvPr/>
        </p:nvSpPr>
        <p:spPr>
          <a:xfrm>
            <a:off x="657360" y="5053320"/>
            <a:ext cx="9781560" cy="70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9"/>
          <p:cNvSpPr/>
          <p:nvPr/>
        </p:nvSpPr>
        <p:spPr>
          <a:xfrm>
            <a:off x="1557000" y="4272840"/>
            <a:ext cx="978156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13"/>
          <p:cNvSpPr/>
          <p:nvPr/>
        </p:nvSpPr>
        <p:spPr>
          <a:xfrm>
            <a:off x="77040" y="5400000"/>
            <a:ext cx="50040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14"/>
          <p:cNvSpPr/>
          <p:nvPr/>
        </p:nvSpPr>
        <p:spPr>
          <a:xfrm>
            <a:off x="657360" y="5760000"/>
            <a:ext cx="9781560" cy="104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5"/>
          <p:cNvSpPr/>
          <p:nvPr/>
        </p:nvSpPr>
        <p:spPr>
          <a:xfrm>
            <a:off x="1508760" y="5157360"/>
            <a:ext cx="978156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6"/>
          <p:cNvSpPr/>
          <p:nvPr/>
        </p:nvSpPr>
        <p:spPr>
          <a:xfrm>
            <a:off x="822960" y="5897880"/>
            <a:ext cx="106045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lideNumber_16"/>
          <p:cNvSpPr/>
          <p:nvPr/>
        </p:nvSpPr>
        <p:spPr>
          <a:xfrm>
            <a:off x="11286720" y="6419160"/>
            <a:ext cx="57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16/17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1508760" y="5220000"/>
            <a:ext cx="928944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540000" y="903600"/>
            <a:ext cx="1097892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Разработана программа управления ходовой частью наземного четырёхколёсного робота на базе микроконтроллеров STM32.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Спроектирована архитектура позволяющая переносить программу управления роботом на произвольные аппаратные платформы и уточнять математическую модель робота независимо от остальных подсистем 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 Разработан закон управления для проведении тестирования работы робота в условиях симулятора.</a:t>
            </a:r>
            <a:br>
              <a:rPr sz="2200"/>
            </a:b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 Проведены 3 сценария тестирования в симуляторе и один сценарий на микроконтроллере, позволяющие сделать вывод о корректности работы программы.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Box 1"/>
          <p:cNvSpPr/>
          <p:nvPr/>
        </p:nvSpPr>
        <p:spPr>
          <a:xfrm>
            <a:off x="1143000" y="2423160"/>
            <a:ext cx="987300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8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Спасибо за внимание</a:t>
            </a:r>
            <a:endParaRPr lang="ru-RU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2"/>
          <p:cNvSpPr/>
          <p:nvPr/>
        </p:nvSpPr>
        <p:spPr>
          <a:xfrm>
            <a:off x="1143000" y="3474720"/>
            <a:ext cx="987300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lideNumber_17"/>
          <p:cNvSpPr/>
          <p:nvPr/>
        </p:nvSpPr>
        <p:spPr>
          <a:xfrm>
            <a:off x="11414160" y="6419160"/>
            <a:ext cx="4521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Application>LibreOffice/26.2.4.2$Linux_X86_64 LibreOffice_project/620$Build-2</Application>
  <AppVersion>15.0000</AppVersion>
  <Company>Технологический университет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2026-06-07T22:50:42Z</dcterms:created>
  <dc:creator>Михно Павел Юрьевич</dc:creator>
  <dc:description/>
  <dc:language>ru-RU</dc:language>
  <cp:lastModifiedBy/>
  <cp:lastPrinted>2026-06-22T03:43:16Z</cp:lastPrinted>
  <dcterms:modified xsi:type="dcterms:W3CDTF">2026-06-22T10:23:23Z</dcterms:modified>
  <cp:revision>37</cp:revision>
  <dc:subject>ВКР</dc:subject>
  <dc:title>Разработка программы управления ходовой частью наземного четырёхколёсного робота на базе микроконтроллеров STM32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